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9"/>
  </p:notesMasterIdLst>
  <p:handoutMasterIdLst>
    <p:handoutMasterId r:id="rId20"/>
  </p:handoutMasterIdLst>
  <p:sldIdLst>
    <p:sldId id="256" r:id="rId5"/>
    <p:sldId id="269" r:id="rId6"/>
    <p:sldId id="260" r:id="rId7"/>
    <p:sldId id="270" r:id="rId8"/>
    <p:sldId id="271" r:id="rId9"/>
    <p:sldId id="267" r:id="rId10"/>
    <p:sldId id="272" r:id="rId11"/>
    <p:sldId id="279" r:id="rId12"/>
    <p:sldId id="273" r:id="rId13"/>
    <p:sldId id="280" r:id="rId14"/>
    <p:sldId id="275" r:id="rId15"/>
    <p:sldId id="274" r:id="rId16"/>
    <p:sldId id="276" r:id="rId17"/>
    <p:sldId id="27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D433"/>
    <a:srgbClr val="66FF66"/>
    <a:srgbClr val="2335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8DF504-992C-4BE5-8E02-6FF820BEBE33}" v="11" dt="2024-11-27T12:33:50.8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41" autoAdjust="0"/>
  </p:normalViewPr>
  <p:slideViewPr>
    <p:cSldViewPr snapToGrid="0">
      <p:cViewPr varScale="1">
        <p:scale>
          <a:sx n="91" d="100"/>
          <a:sy n="91" d="100"/>
        </p:scale>
        <p:origin x="322" y="58"/>
      </p:cViewPr>
      <p:guideLst>
        <p:guide orient="horz" pos="2160"/>
        <p:guide pos="3840"/>
      </p:guideLst>
    </p:cSldViewPr>
  </p:slideViewPr>
  <p:notesTextViewPr>
    <p:cViewPr>
      <p:scale>
        <a:sx n="1" d="1"/>
        <a:sy n="1" d="1"/>
      </p:scale>
      <p:origin x="0" y="0"/>
    </p:cViewPr>
  </p:notesTextViewPr>
  <p:notesViewPr>
    <p:cSldViewPr snapToGrid="0">
      <p:cViewPr varScale="1">
        <p:scale>
          <a:sx n="68" d="100"/>
          <a:sy n="68" d="100"/>
        </p:scale>
        <p:origin x="3288" y="32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03FB87-790C-4850-A90C-12C5FF4B94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8127921-F9C4-44F3-AC5F-130B6A406C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E59275-AFE1-4999-B78A-D0D76B9F2B0B}" type="datetimeFigureOut">
              <a:rPr lang="en-US" smtClean="0"/>
              <a:t>11/29/2024</a:t>
            </a:fld>
            <a:endParaRPr lang="en-US" dirty="0"/>
          </a:p>
        </p:txBody>
      </p:sp>
      <p:sp>
        <p:nvSpPr>
          <p:cNvPr id="4" name="Footer Placeholder 3">
            <a:extLst>
              <a:ext uri="{FF2B5EF4-FFF2-40B4-BE49-F238E27FC236}">
                <a16:creationId xmlns:a16="http://schemas.microsoft.com/office/drawing/2014/main" id="{4765E047-F1CB-4066-A459-9EDC95F2E6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8A77EF5-5277-4BAF-8BB4-2E02103988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668C69-0C3E-40A2-B4A0-B2C8B71D8E3A}" type="slidenum">
              <a:rPr lang="en-US" smtClean="0"/>
              <a:t>‹#›</a:t>
            </a:fld>
            <a:endParaRPr lang="en-US" dirty="0"/>
          </a:p>
        </p:txBody>
      </p:sp>
    </p:spTree>
    <p:extLst>
      <p:ext uri="{BB962C8B-B14F-4D97-AF65-F5344CB8AC3E}">
        <p14:creationId xmlns:p14="http://schemas.microsoft.com/office/powerpoint/2010/main" val="2051586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EADD7A-FE61-48EE-BE0E-8546E5401374}" type="datetimeFigureOut">
              <a:rPr lang="en-US" smtClean="0"/>
              <a:t>11/29/2024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000EEB-8338-48D7-8EE8-EE0082EF7602}" type="slidenum">
              <a:rPr lang="en-US" smtClean="0"/>
              <a:t>‹#›</a:t>
            </a:fld>
            <a:endParaRPr lang="en-US" dirty="0"/>
          </a:p>
        </p:txBody>
      </p:sp>
    </p:spTree>
    <p:extLst>
      <p:ext uri="{BB962C8B-B14F-4D97-AF65-F5344CB8AC3E}">
        <p14:creationId xmlns:p14="http://schemas.microsoft.com/office/powerpoint/2010/main" val="3767770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1</a:t>
            </a:fld>
            <a:endParaRPr lang="en-US" dirty="0"/>
          </a:p>
        </p:txBody>
      </p:sp>
    </p:spTree>
    <p:extLst>
      <p:ext uri="{BB962C8B-B14F-4D97-AF65-F5344CB8AC3E}">
        <p14:creationId xmlns:p14="http://schemas.microsoft.com/office/powerpoint/2010/main" val="4005338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2</a:t>
            </a:fld>
            <a:endParaRPr lang="en-US" dirty="0"/>
          </a:p>
        </p:txBody>
      </p:sp>
    </p:spTree>
    <p:extLst>
      <p:ext uri="{BB962C8B-B14F-4D97-AF65-F5344CB8AC3E}">
        <p14:creationId xmlns:p14="http://schemas.microsoft.com/office/powerpoint/2010/main" val="3614338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3</a:t>
            </a:fld>
            <a:endParaRPr lang="en-US" dirty="0"/>
          </a:p>
        </p:txBody>
      </p:sp>
    </p:spTree>
    <p:extLst>
      <p:ext uri="{BB962C8B-B14F-4D97-AF65-F5344CB8AC3E}">
        <p14:creationId xmlns:p14="http://schemas.microsoft.com/office/powerpoint/2010/main" val="1850169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E1AD5-1742-5504-60C9-AE62A79B3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0FCAC6-73DD-60EC-77F3-8314F670D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BA0386-A3BA-BDA9-0F37-0E36EF6E93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B9CF47-473A-0BAF-895E-03F91DCCEC59}"/>
              </a:ext>
            </a:extLst>
          </p:cNvPr>
          <p:cNvSpPr>
            <a:spLocks noGrp="1"/>
          </p:cNvSpPr>
          <p:nvPr>
            <p:ph type="sldNum" sz="quarter" idx="5"/>
          </p:nvPr>
        </p:nvSpPr>
        <p:spPr/>
        <p:txBody>
          <a:bodyPr/>
          <a:lstStyle/>
          <a:p>
            <a:fld id="{EE000EEB-8338-48D7-8EE8-EE0082EF7602}" type="slidenum">
              <a:rPr lang="en-US" smtClean="0"/>
              <a:t>4</a:t>
            </a:fld>
            <a:endParaRPr lang="en-US" dirty="0"/>
          </a:p>
        </p:txBody>
      </p:sp>
    </p:spTree>
    <p:extLst>
      <p:ext uri="{BB962C8B-B14F-4D97-AF65-F5344CB8AC3E}">
        <p14:creationId xmlns:p14="http://schemas.microsoft.com/office/powerpoint/2010/main" val="14772192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F6DAC-84D2-E63C-7A1A-581A4D774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8FBE46-9FBC-6555-5CBB-3CE9A176D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1382AB-3046-5B48-7321-A79DA03F58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58BAA9-34AF-2552-456F-6D3D0296DECD}"/>
              </a:ext>
            </a:extLst>
          </p:cNvPr>
          <p:cNvSpPr>
            <a:spLocks noGrp="1"/>
          </p:cNvSpPr>
          <p:nvPr>
            <p:ph type="sldNum" sz="quarter" idx="5"/>
          </p:nvPr>
        </p:nvSpPr>
        <p:spPr/>
        <p:txBody>
          <a:bodyPr/>
          <a:lstStyle/>
          <a:p>
            <a:fld id="{EE000EEB-8338-48D7-8EE8-EE0082EF7602}" type="slidenum">
              <a:rPr lang="en-US" smtClean="0"/>
              <a:t>5</a:t>
            </a:fld>
            <a:endParaRPr lang="en-US" dirty="0"/>
          </a:p>
        </p:txBody>
      </p:sp>
    </p:spTree>
    <p:extLst>
      <p:ext uri="{BB962C8B-B14F-4D97-AF65-F5344CB8AC3E}">
        <p14:creationId xmlns:p14="http://schemas.microsoft.com/office/powerpoint/2010/main" val="3993297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6</a:t>
            </a:fld>
            <a:endParaRPr lang="en-US" dirty="0"/>
          </a:p>
        </p:txBody>
      </p:sp>
    </p:spTree>
    <p:extLst>
      <p:ext uri="{BB962C8B-B14F-4D97-AF65-F5344CB8AC3E}">
        <p14:creationId xmlns:p14="http://schemas.microsoft.com/office/powerpoint/2010/main" val="3672966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A6CD2-2426-33F6-A05B-AA3585AB7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A2B9C-B5F4-94AD-EAEE-C6C698004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BCE32-5636-F378-73D3-37F9C383AD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507090-DC8D-2E71-B0F9-7CBBCA35B306}"/>
              </a:ext>
            </a:extLst>
          </p:cNvPr>
          <p:cNvSpPr>
            <a:spLocks noGrp="1"/>
          </p:cNvSpPr>
          <p:nvPr>
            <p:ph type="sldNum" sz="quarter" idx="5"/>
          </p:nvPr>
        </p:nvSpPr>
        <p:spPr/>
        <p:txBody>
          <a:bodyPr/>
          <a:lstStyle/>
          <a:p>
            <a:fld id="{EE000EEB-8338-48D7-8EE8-EE0082EF7602}" type="slidenum">
              <a:rPr lang="en-US" smtClean="0"/>
              <a:t>7</a:t>
            </a:fld>
            <a:endParaRPr lang="en-US" dirty="0"/>
          </a:p>
        </p:txBody>
      </p:sp>
    </p:spTree>
    <p:extLst>
      <p:ext uri="{BB962C8B-B14F-4D97-AF65-F5344CB8AC3E}">
        <p14:creationId xmlns:p14="http://schemas.microsoft.com/office/powerpoint/2010/main" val="2946260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DA71C-4BB5-8DCC-6122-295230F4B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F1351-476D-5577-AB8E-2B9C998A3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EDB115-00FC-5909-77DB-4B2372F024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D3502F-4B1B-C5F8-E4BD-4D43C149CC22}"/>
              </a:ext>
            </a:extLst>
          </p:cNvPr>
          <p:cNvSpPr>
            <a:spLocks noGrp="1"/>
          </p:cNvSpPr>
          <p:nvPr>
            <p:ph type="sldNum" sz="quarter" idx="5"/>
          </p:nvPr>
        </p:nvSpPr>
        <p:spPr/>
        <p:txBody>
          <a:bodyPr/>
          <a:lstStyle/>
          <a:p>
            <a:fld id="{EE000EEB-8338-48D7-8EE8-EE0082EF7602}" type="slidenum">
              <a:rPr lang="en-US" smtClean="0"/>
              <a:t>8</a:t>
            </a:fld>
            <a:endParaRPr lang="en-US" dirty="0"/>
          </a:p>
        </p:txBody>
      </p:sp>
    </p:spTree>
    <p:extLst>
      <p:ext uri="{BB962C8B-B14F-4D97-AF65-F5344CB8AC3E}">
        <p14:creationId xmlns:p14="http://schemas.microsoft.com/office/powerpoint/2010/main" val="54423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13C72-5CAA-CDF2-D265-D971BD672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C69D3-3465-4B28-CBD1-454B5E5551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92C452-F075-DB10-3082-5E31C25579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9CB16F-B417-CD62-6667-FF5B4E57F79A}"/>
              </a:ext>
            </a:extLst>
          </p:cNvPr>
          <p:cNvSpPr>
            <a:spLocks noGrp="1"/>
          </p:cNvSpPr>
          <p:nvPr>
            <p:ph type="sldNum" sz="quarter" idx="5"/>
          </p:nvPr>
        </p:nvSpPr>
        <p:spPr/>
        <p:txBody>
          <a:bodyPr/>
          <a:lstStyle/>
          <a:p>
            <a:fld id="{EE000EEB-8338-48D7-8EE8-EE0082EF7602}" type="slidenum">
              <a:rPr lang="en-US" smtClean="0"/>
              <a:t>9</a:t>
            </a:fld>
            <a:endParaRPr lang="en-US" dirty="0"/>
          </a:p>
        </p:txBody>
      </p:sp>
    </p:spTree>
    <p:extLst>
      <p:ext uri="{BB962C8B-B14F-4D97-AF65-F5344CB8AC3E}">
        <p14:creationId xmlns:p14="http://schemas.microsoft.com/office/powerpoint/2010/main" val="657355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45AA3-DE72-1B79-817E-15CDFA020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17C57-6298-6831-E7E2-3BD525BA6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6BE96F-6D25-C9CD-DBC9-3328927C19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C851BE-A24F-8147-3EC2-7A37B3A66589}"/>
              </a:ext>
            </a:extLst>
          </p:cNvPr>
          <p:cNvSpPr>
            <a:spLocks noGrp="1"/>
          </p:cNvSpPr>
          <p:nvPr>
            <p:ph type="sldNum" sz="quarter" idx="5"/>
          </p:nvPr>
        </p:nvSpPr>
        <p:spPr/>
        <p:txBody>
          <a:bodyPr/>
          <a:lstStyle/>
          <a:p>
            <a:fld id="{EE000EEB-8338-48D7-8EE8-EE0082EF7602}" type="slidenum">
              <a:rPr lang="en-US" smtClean="0"/>
              <a:t>11</a:t>
            </a:fld>
            <a:endParaRPr lang="en-US" dirty="0"/>
          </a:p>
        </p:txBody>
      </p:sp>
    </p:spTree>
    <p:extLst>
      <p:ext uri="{BB962C8B-B14F-4D97-AF65-F5344CB8AC3E}">
        <p14:creationId xmlns:p14="http://schemas.microsoft.com/office/powerpoint/2010/main" val="2262182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796EE-5335-5B02-9969-21731CF33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BAF59-25A6-23D1-A051-69D01794B8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CF9ED5-8C5A-DBD4-DE35-603CCFE1C5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EC52BA-2031-33FD-5826-4E2ED6FF4B6E}"/>
              </a:ext>
            </a:extLst>
          </p:cNvPr>
          <p:cNvSpPr>
            <a:spLocks noGrp="1"/>
          </p:cNvSpPr>
          <p:nvPr>
            <p:ph type="sldNum" sz="quarter" idx="5"/>
          </p:nvPr>
        </p:nvSpPr>
        <p:spPr/>
        <p:txBody>
          <a:bodyPr/>
          <a:lstStyle/>
          <a:p>
            <a:fld id="{EE000EEB-8338-48D7-8EE8-EE0082EF7602}" type="slidenum">
              <a:rPr lang="en-US" smtClean="0"/>
              <a:t>12</a:t>
            </a:fld>
            <a:endParaRPr lang="en-US" dirty="0"/>
          </a:p>
        </p:txBody>
      </p:sp>
    </p:spTree>
    <p:extLst>
      <p:ext uri="{BB962C8B-B14F-4D97-AF65-F5344CB8AC3E}">
        <p14:creationId xmlns:p14="http://schemas.microsoft.com/office/powerpoint/2010/main" val="972365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0DE97-8F32-316B-99B6-B37BF72CA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B702C-37D6-3A7A-7559-77C795D71B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178062-1F85-81A6-CD34-3A1F237321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BEF24F-EFF8-078A-669A-D14ED2C75855}"/>
              </a:ext>
            </a:extLst>
          </p:cNvPr>
          <p:cNvSpPr>
            <a:spLocks noGrp="1"/>
          </p:cNvSpPr>
          <p:nvPr>
            <p:ph type="sldNum" sz="quarter" idx="5"/>
          </p:nvPr>
        </p:nvSpPr>
        <p:spPr/>
        <p:txBody>
          <a:bodyPr/>
          <a:lstStyle/>
          <a:p>
            <a:fld id="{EE000EEB-8338-48D7-8EE8-EE0082EF7602}" type="slidenum">
              <a:rPr lang="en-US" smtClean="0"/>
              <a:t>13</a:t>
            </a:fld>
            <a:endParaRPr lang="en-US" dirty="0"/>
          </a:p>
        </p:txBody>
      </p:sp>
    </p:spTree>
    <p:extLst>
      <p:ext uri="{BB962C8B-B14F-4D97-AF65-F5344CB8AC3E}">
        <p14:creationId xmlns:p14="http://schemas.microsoft.com/office/powerpoint/2010/main" val="4058521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FEFE8-E8F8-F429-F7DF-C1117C276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A6363-246C-0542-46D3-26A60CB9DB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FE3D5-D51D-A9D5-377F-2D3B1E8BBF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5304D6-AC76-DB41-1E71-99683555DE62}"/>
              </a:ext>
            </a:extLst>
          </p:cNvPr>
          <p:cNvSpPr>
            <a:spLocks noGrp="1"/>
          </p:cNvSpPr>
          <p:nvPr>
            <p:ph type="sldNum" sz="quarter" idx="5"/>
          </p:nvPr>
        </p:nvSpPr>
        <p:spPr/>
        <p:txBody>
          <a:bodyPr/>
          <a:lstStyle/>
          <a:p>
            <a:fld id="{EE000EEB-8338-48D7-8EE8-EE0082EF7602}" type="slidenum">
              <a:rPr lang="en-US" smtClean="0"/>
              <a:t>14</a:t>
            </a:fld>
            <a:endParaRPr lang="en-US" dirty="0"/>
          </a:p>
        </p:txBody>
      </p:sp>
    </p:spTree>
    <p:extLst>
      <p:ext uri="{BB962C8B-B14F-4D97-AF65-F5344CB8AC3E}">
        <p14:creationId xmlns:p14="http://schemas.microsoft.com/office/powerpoint/2010/main" val="1084093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11/29/2024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11/29/2024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11/29/2024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11/29/2024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11/29/2024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11/29/2024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11/29/2024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11/29/2024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5" name="Picture 4" descr="chain links">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blip>
          <a:srcRect t="23391" r="9091"/>
          <a:stretch/>
        </p:blipFill>
        <p:spPr>
          <a:xfrm>
            <a:off x="20" y="10"/>
            <a:ext cx="12191980" cy="6857990"/>
          </a:xfrm>
          <a:prstGeom prst="rect">
            <a:avLst/>
          </a:prstGeom>
        </p:spPr>
      </p:pic>
      <p:sp>
        <p:nvSpPr>
          <p:cNvPr id="2" name="Title 1">
            <a:extLst>
              <a:ext uri="{FF2B5EF4-FFF2-40B4-BE49-F238E27FC236}">
                <a16:creationId xmlns:a16="http://schemas.microsoft.com/office/drawing/2014/main" id="{3D30D32A-359B-41BB-9746-2CF3A21EEFFC}"/>
              </a:ext>
            </a:extLst>
          </p:cNvPr>
          <p:cNvSpPr>
            <a:spLocks noGrp="1"/>
          </p:cNvSpPr>
          <p:nvPr>
            <p:ph type="ctrTitle"/>
          </p:nvPr>
        </p:nvSpPr>
        <p:spPr>
          <a:xfrm>
            <a:off x="1296606" y="1190393"/>
            <a:ext cx="8825658" cy="3329581"/>
          </a:xfrm>
        </p:spPr>
        <p:txBody>
          <a:bodyPr>
            <a:normAutofit fontScale="90000"/>
          </a:bodyPr>
          <a:lstStyle/>
          <a:p>
            <a:r>
              <a:rPr lang="en-US" dirty="0"/>
              <a:t>AUTOMATIC RAILWAY GATE CONTROL</a:t>
            </a:r>
            <a:endParaRPr lang="ru-RU" dirty="0"/>
          </a:p>
        </p:txBody>
      </p:sp>
      <p:sp>
        <p:nvSpPr>
          <p:cNvPr id="3" name="Subtitle 2">
            <a:extLst>
              <a:ext uri="{FF2B5EF4-FFF2-40B4-BE49-F238E27FC236}">
                <a16:creationId xmlns:a16="http://schemas.microsoft.com/office/drawing/2014/main" id="{B4CA222A-88BC-48F4-9AE8-2115B7D1E6DC}"/>
              </a:ext>
            </a:extLst>
          </p:cNvPr>
          <p:cNvSpPr>
            <a:spLocks noGrp="1"/>
          </p:cNvSpPr>
          <p:nvPr>
            <p:ph type="subTitle" idx="1"/>
          </p:nvPr>
        </p:nvSpPr>
        <p:spPr>
          <a:xfrm>
            <a:off x="1296606" y="4543057"/>
            <a:ext cx="8825658" cy="861420"/>
          </a:xfrm>
        </p:spPr>
        <p:txBody>
          <a:bodyPr>
            <a:normAutofit/>
          </a:bodyPr>
          <a:lstStyle/>
          <a:p>
            <a:r>
              <a:rPr lang="en-US" dirty="0"/>
              <a:t>USING ARDUINO</a:t>
            </a:r>
          </a:p>
        </p:txBody>
      </p:sp>
      <p:sp>
        <p:nvSpPr>
          <p:cNvPr id="20" name="Rectangle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TextBox 3">
            <a:extLst>
              <a:ext uri="{FF2B5EF4-FFF2-40B4-BE49-F238E27FC236}">
                <a16:creationId xmlns:a16="http://schemas.microsoft.com/office/drawing/2014/main" id="{28BA51BF-B6D9-EC9A-F918-6235950465EA}"/>
              </a:ext>
            </a:extLst>
          </p:cNvPr>
          <p:cNvSpPr txBox="1"/>
          <p:nvPr/>
        </p:nvSpPr>
        <p:spPr>
          <a:xfrm>
            <a:off x="496111" y="5292191"/>
            <a:ext cx="8939719" cy="1477328"/>
          </a:xfrm>
          <a:prstGeom prst="rect">
            <a:avLst/>
          </a:prstGeom>
          <a:noFill/>
        </p:spPr>
        <p:txBody>
          <a:bodyPr wrap="square" rtlCol="0">
            <a:spAutoFit/>
          </a:bodyPr>
          <a:lstStyle/>
          <a:p>
            <a:r>
              <a:rPr lang="en-US" dirty="0"/>
              <a:t>Submitted by:</a:t>
            </a:r>
          </a:p>
          <a:p>
            <a:r>
              <a:rPr lang="en-US" dirty="0"/>
              <a:t>AKSHAT GUPTA(2023UEE1168)</a:t>
            </a:r>
          </a:p>
          <a:p>
            <a:r>
              <a:rPr lang="en-US" dirty="0"/>
              <a:t>PARIBHASHA RASTOGI(2023UEE1139)</a:t>
            </a:r>
          </a:p>
          <a:p>
            <a:r>
              <a:rPr lang="en-US" dirty="0"/>
              <a:t>NARENDER(2023UEE1157)</a:t>
            </a:r>
          </a:p>
          <a:p>
            <a:r>
              <a:rPr lang="en-US" dirty="0"/>
              <a:t>KESHAV BATHLA(2023UEE1129) </a:t>
            </a:r>
            <a:endParaRPr lang="en-IN" dirty="0"/>
          </a:p>
        </p:txBody>
      </p:sp>
      <p:sp>
        <p:nvSpPr>
          <p:cNvPr id="6" name="TextBox 5">
            <a:extLst>
              <a:ext uri="{FF2B5EF4-FFF2-40B4-BE49-F238E27FC236}">
                <a16:creationId xmlns:a16="http://schemas.microsoft.com/office/drawing/2014/main" id="{44D20521-D542-8AE7-7635-C23D82EDE9C7}"/>
              </a:ext>
            </a:extLst>
          </p:cNvPr>
          <p:cNvSpPr txBox="1"/>
          <p:nvPr/>
        </p:nvSpPr>
        <p:spPr>
          <a:xfrm>
            <a:off x="7733543" y="5359875"/>
            <a:ext cx="2704269" cy="646331"/>
          </a:xfrm>
          <a:prstGeom prst="rect">
            <a:avLst/>
          </a:prstGeom>
          <a:noFill/>
        </p:spPr>
        <p:txBody>
          <a:bodyPr wrap="square" rtlCol="0">
            <a:spAutoFit/>
          </a:bodyPr>
          <a:lstStyle/>
          <a:p>
            <a:r>
              <a:rPr lang="en-US" dirty="0"/>
              <a:t>Submitted to:</a:t>
            </a:r>
          </a:p>
          <a:p>
            <a:r>
              <a:rPr lang="en-US" dirty="0"/>
              <a:t>Dr. Man Mohan Garg</a:t>
            </a:r>
            <a:endParaRPr lang="en-IN" dirty="0"/>
          </a:p>
        </p:txBody>
      </p:sp>
    </p:spTree>
    <p:extLst>
      <p:ext uri="{BB962C8B-B14F-4D97-AF65-F5344CB8AC3E}">
        <p14:creationId xmlns:p14="http://schemas.microsoft.com/office/powerpoint/2010/main" val="193000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277D425-9C55-9BA7-1EB7-7444B0CBF7C4}"/>
              </a:ext>
            </a:extLst>
          </p:cNvPr>
          <p:cNvSpPr/>
          <p:nvPr/>
        </p:nvSpPr>
        <p:spPr>
          <a:xfrm>
            <a:off x="0" y="0"/>
            <a:ext cx="12192000" cy="6858000"/>
          </a:xfrm>
          <a:prstGeom prst="rect">
            <a:avLst/>
          </a:prstGeom>
          <a:solidFill>
            <a:srgbClr val="233550">
              <a:alpha val="5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C4174D3-6B10-409E-9110-EEBEAA7E38C0}"/>
              </a:ext>
            </a:extLst>
          </p:cNvPr>
          <p:cNvSpPr>
            <a:spLocks noGrp="1"/>
          </p:cNvSpPr>
          <p:nvPr>
            <p:ph type="title"/>
          </p:nvPr>
        </p:nvSpPr>
        <p:spPr>
          <a:xfrm>
            <a:off x="575162" y="216642"/>
            <a:ext cx="4391115" cy="1130269"/>
          </a:xfrm>
        </p:spPr>
        <p:txBody>
          <a:bodyPr>
            <a:normAutofit fontScale="90000"/>
          </a:bodyPr>
          <a:lstStyle/>
          <a:p>
            <a:r>
              <a:rPr lang="en-US" b="1" i="1" dirty="0">
                <a:solidFill>
                  <a:schemeClr val="accent1">
                    <a:lumMod val="60000"/>
                    <a:lumOff val="40000"/>
                  </a:schemeClr>
                </a:solidFill>
              </a:rPr>
              <a:t>TABLE OF CONTENT</a:t>
            </a:r>
          </a:p>
        </p:txBody>
      </p:sp>
      <p:sp>
        <p:nvSpPr>
          <p:cNvPr id="78" name="Rectangle 77">
            <a:extLst>
              <a:ext uri="{FF2B5EF4-FFF2-40B4-BE49-F238E27FC236}">
                <a16:creationId xmlns:a16="http://schemas.microsoft.com/office/drawing/2014/main" id="{7527E565-DE8D-445C-9879-AD1D04415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Freeform: Shape 6">
            <a:extLst>
              <a:ext uri="{FF2B5EF4-FFF2-40B4-BE49-F238E27FC236}">
                <a16:creationId xmlns:a16="http://schemas.microsoft.com/office/drawing/2014/main" id="{79FE5C51-0198-BFEF-D808-454CA2FE19AC}"/>
              </a:ext>
            </a:extLst>
          </p:cNvPr>
          <p:cNvSpPr/>
          <p:nvPr/>
        </p:nvSpPr>
        <p:spPr>
          <a:xfrm>
            <a:off x="1746228" y="2546560"/>
            <a:ext cx="3545038" cy="1130269"/>
          </a:xfrm>
          <a:custGeom>
            <a:avLst/>
            <a:gdLst>
              <a:gd name="connsiteX0" fmla="*/ 0 w 3545038"/>
              <a:gd name="connsiteY0" fmla="*/ 0 h 1088305"/>
              <a:gd name="connsiteX1" fmla="*/ 3545038 w 3545038"/>
              <a:gd name="connsiteY1" fmla="*/ 0 h 1088305"/>
              <a:gd name="connsiteX2" fmla="*/ 3545038 w 3545038"/>
              <a:gd name="connsiteY2" fmla="*/ 1088305 h 1088305"/>
              <a:gd name="connsiteX3" fmla="*/ 0 w 3545038"/>
              <a:gd name="connsiteY3" fmla="*/ 1088305 h 1088305"/>
              <a:gd name="connsiteX4" fmla="*/ 0 w 3545038"/>
              <a:gd name="connsiteY4" fmla="*/ 0 h 1088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5038" h="1088305">
                <a:moveTo>
                  <a:pt x="0" y="0"/>
                </a:moveTo>
                <a:lnTo>
                  <a:pt x="3545038" y="0"/>
                </a:lnTo>
                <a:lnTo>
                  <a:pt x="3545038" y="1088305"/>
                </a:lnTo>
                <a:lnTo>
                  <a:pt x="0" y="10883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5179" tIns="115179" rIns="115179" bIns="115179" numCol="1" spcCol="1270" anchor="ctr" anchorCtr="0">
            <a:noAutofit/>
          </a:bodyPr>
          <a:lstStyle/>
          <a:p>
            <a:pPr marL="0" lvl="0" indent="0" algn="l" defTabSz="1111250">
              <a:lnSpc>
                <a:spcPct val="100000"/>
              </a:lnSpc>
              <a:spcBef>
                <a:spcPct val="0"/>
              </a:spcBef>
              <a:spcAft>
                <a:spcPct val="35000"/>
              </a:spcAft>
              <a:buNone/>
            </a:pPr>
            <a:endParaRPr lang="en-US" sz="2500" kern="1200" dirty="0"/>
          </a:p>
        </p:txBody>
      </p:sp>
      <p:sp>
        <p:nvSpPr>
          <p:cNvPr id="10" name="Freeform: Shape 9">
            <a:extLst>
              <a:ext uri="{FF2B5EF4-FFF2-40B4-BE49-F238E27FC236}">
                <a16:creationId xmlns:a16="http://schemas.microsoft.com/office/drawing/2014/main" id="{34A8A813-C258-13E7-AE93-EB292B601F36}"/>
              </a:ext>
            </a:extLst>
          </p:cNvPr>
          <p:cNvSpPr/>
          <p:nvPr/>
        </p:nvSpPr>
        <p:spPr>
          <a:xfrm>
            <a:off x="2075440" y="3906941"/>
            <a:ext cx="3545038" cy="1130269"/>
          </a:xfrm>
          <a:custGeom>
            <a:avLst/>
            <a:gdLst>
              <a:gd name="connsiteX0" fmla="*/ 0 w 3545038"/>
              <a:gd name="connsiteY0" fmla="*/ 0 h 1088305"/>
              <a:gd name="connsiteX1" fmla="*/ 3545038 w 3545038"/>
              <a:gd name="connsiteY1" fmla="*/ 0 h 1088305"/>
              <a:gd name="connsiteX2" fmla="*/ 3545038 w 3545038"/>
              <a:gd name="connsiteY2" fmla="*/ 1088305 h 1088305"/>
              <a:gd name="connsiteX3" fmla="*/ 0 w 3545038"/>
              <a:gd name="connsiteY3" fmla="*/ 1088305 h 1088305"/>
              <a:gd name="connsiteX4" fmla="*/ 0 w 3545038"/>
              <a:gd name="connsiteY4" fmla="*/ 0 h 1088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5038" h="1088305">
                <a:moveTo>
                  <a:pt x="0" y="0"/>
                </a:moveTo>
                <a:lnTo>
                  <a:pt x="3545038" y="0"/>
                </a:lnTo>
                <a:lnTo>
                  <a:pt x="3545038" y="1088305"/>
                </a:lnTo>
                <a:lnTo>
                  <a:pt x="0" y="10883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5179" tIns="115179" rIns="115179" bIns="115179" numCol="1" spcCol="1270" anchor="ctr" anchorCtr="0">
            <a:noAutofit/>
          </a:bodyPr>
          <a:lstStyle/>
          <a:p>
            <a:pPr marL="0" lvl="0" indent="0" algn="l" defTabSz="1111250">
              <a:lnSpc>
                <a:spcPct val="100000"/>
              </a:lnSpc>
              <a:spcBef>
                <a:spcPct val="0"/>
              </a:spcBef>
              <a:spcAft>
                <a:spcPct val="35000"/>
              </a:spcAft>
              <a:buNone/>
            </a:pPr>
            <a:endParaRPr lang="en-US" sz="2500" kern="1200" dirty="0"/>
          </a:p>
        </p:txBody>
      </p:sp>
      <p:sp>
        <p:nvSpPr>
          <p:cNvPr id="13" name="Freeform: Shape 12">
            <a:extLst>
              <a:ext uri="{FF2B5EF4-FFF2-40B4-BE49-F238E27FC236}">
                <a16:creationId xmlns:a16="http://schemas.microsoft.com/office/drawing/2014/main" id="{EF450388-37FF-9325-1B1C-8A98B7CC701A}"/>
              </a:ext>
            </a:extLst>
          </p:cNvPr>
          <p:cNvSpPr/>
          <p:nvPr/>
        </p:nvSpPr>
        <p:spPr>
          <a:xfrm>
            <a:off x="2075440" y="5267323"/>
            <a:ext cx="3545038" cy="1130269"/>
          </a:xfrm>
          <a:custGeom>
            <a:avLst/>
            <a:gdLst>
              <a:gd name="connsiteX0" fmla="*/ 0 w 3545038"/>
              <a:gd name="connsiteY0" fmla="*/ 0 h 1088305"/>
              <a:gd name="connsiteX1" fmla="*/ 3545038 w 3545038"/>
              <a:gd name="connsiteY1" fmla="*/ 0 h 1088305"/>
              <a:gd name="connsiteX2" fmla="*/ 3545038 w 3545038"/>
              <a:gd name="connsiteY2" fmla="*/ 1088305 h 1088305"/>
              <a:gd name="connsiteX3" fmla="*/ 0 w 3545038"/>
              <a:gd name="connsiteY3" fmla="*/ 1088305 h 1088305"/>
              <a:gd name="connsiteX4" fmla="*/ 0 w 3545038"/>
              <a:gd name="connsiteY4" fmla="*/ 0 h 1088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5038" h="1088305">
                <a:moveTo>
                  <a:pt x="0" y="0"/>
                </a:moveTo>
                <a:lnTo>
                  <a:pt x="3545038" y="0"/>
                </a:lnTo>
                <a:lnTo>
                  <a:pt x="3545038" y="1088305"/>
                </a:lnTo>
                <a:lnTo>
                  <a:pt x="0" y="108830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5179" tIns="115179" rIns="115179" bIns="115179" numCol="1" spcCol="1270" anchor="ctr" anchorCtr="0">
            <a:noAutofit/>
          </a:bodyPr>
          <a:lstStyle/>
          <a:p>
            <a:pPr marL="0" lvl="0" indent="0" algn="l" defTabSz="1111250">
              <a:lnSpc>
                <a:spcPct val="100000"/>
              </a:lnSpc>
              <a:spcBef>
                <a:spcPct val="0"/>
              </a:spcBef>
              <a:spcAft>
                <a:spcPct val="35000"/>
              </a:spcAft>
              <a:buNone/>
            </a:pPr>
            <a:endParaRPr lang="en-US" sz="2500" kern="1200" dirty="0"/>
          </a:p>
        </p:txBody>
      </p:sp>
      <p:grpSp>
        <p:nvGrpSpPr>
          <p:cNvPr id="16" name="Group 15">
            <a:extLst>
              <a:ext uri="{FF2B5EF4-FFF2-40B4-BE49-F238E27FC236}">
                <a16:creationId xmlns:a16="http://schemas.microsoft.com/office/drawing/2014/main" id="{8B198FAA-92B8-3ABE-22F0-985ACD74E076}"/>
              </a:ext>
            </a:extLst>
          </p:cNvPr>
          <p:cNvGrpSpPr/>
          <p:nvPr/>
        </p:nvGrpSpPr>
        <p:grpSpPr>
          <a:xfrm>
            <a:off x="575164" y="1574500"/>
            <a:ext cx="4047297" cy="2424010"/>
            <a:chOff x="575166" y="2162739"/>
            <a:chExt cx="4047297" cy="3104583"/>
          </a:xfrm>
        </p:grpSpPr>
        <p:sp>
          <p:nvSpPr>
            <p:cNvPr id="5" name="Rectangle: Rounded Corners 4">
              <a:extLst>
                <a:ext uri="{FF2B5EF4-FFF2-40B4-BE49-F238E27FC236}">
                  <a16:creationId xmlns:a16="http://schemas.microsoft.com/office/drawing/2014/main" id="{FDECD352-BC5B-0A94-CE11-35D2B22FBE0D}"/>
                </a:ext>
              </a:extLst>
            </p:cNvPr>
            <p:cNvSpPr/>
            <p:nvPr/>
          </p:nvSpPr>
          <p:spPr>
            <a:xfrm>
              <a:off x="575168" y="2162739"/>
              <a:ext cx="4047295" cy="926357"/>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r>
                <a:rPr lang="en-US" sz="2000" i="1" dirty="0">
                  <a:solidFill>
                    <a:schemeClr val="tx2"/>
                  </a:solidFill>
                </a:rPr>
                <a:t>INTRODUCTION</a:t>
              </a:r>
              <a:endParaRPr lang="en-IN" sz="2000" i="1" dirty="0">
                <a:solidFill>
                  <a:schemeClr val="tx2"/>
                </a:solidFill>
              </a:endParaRPr>
            </a:p>
          </p:txBody>
        </p:sp>
        <p:sp>
          <p:nvSpPr>
            <p:cNvPr id="14" name="Rectangle: Rounded Corners 13">
              <a:extLst>
                <a:ext uri="{FF2B5EF4-FFF2-40B4-BE49-F238E27FC236}">
                  <a16:creationId xmlns:a16="http://schemas.microsoft.com/office/drawing/2014/main" id="{33B96DBD-1ACC-2ADF-1058-618AE41FA349}"/>
                </a:ext>
              </a:extLst>
            </p:cNvPr>
            <p:cNvSpPr/>
            <p:nvPr/>
          </p:nvSpPr>
          <p:spPr>
            <a:xfrm>
              <a:off x="575167" y="3234611"/>
              <a:ext cx="4047295" cy="926357"/>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r>
                <a:rPr lang="en-US" sz="2000" i="1" dirty="0">
                  <a:solidFill>
                    <a:schemeClr val="tx2"/>
                  </a:solidFill>
                </a:rPr>
                <a:t>WORKING</a:t>
              </a:r>
              <a:endParaRPr lang="en-IN" sz="2000" i="1" dirty="0">
                <a:solidFill>
                  <a:schemeClr val="tx2"/>
                </a:solidFill>
              </a:endParaRPr>
            </a:p>
          </p:txBody>
        </p:sp>
        <p:sp>
          <p:nvSpPr>
            <p:cNvPr id="15" name="Rectangle: Rounded Corners 14">
              <a:extLst>
                <a:ext uri="{FF2B5EF4-FFF2-40B4-BE49-F238E27FC236}">
                  <a16:creationId xmlns:a16="http://schemas.microsoft.com/office/drawing/2014/main" id="{0C254256-E22D-0A02-C70B-93E2407210D1}"/>
                </a:ext>
              </a:extLst>
            </p:cNvPr>
            <p:cNvSpPr/>
            <p:nvPr/>
          </p:nvSpPr>
          <p:spPr>
            <a:xfrm>
              <a:off x="575166" y="4340965"/>
              <a:ext cx="4047295" cy="926357"/>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r>
                <a:rPr lang="en-US" sz="2000" i="1" dirty="0">
                  <a:solidFill>
                    <a:schemeClr val="tx2"/>
                  </a:solidFill>
                </a:rPr>
                <a:t>COMPONENTS USED</a:t>
              </a:r>
              <a:endParaRPr lang="en-IN" sz="2000" i="1" dirty="0">
                <a:solidFill>
                  <a:schemeClr val="tx2"/>
                </a:solidFill>
              </a:endParaRPr>
            </a:p>
          </p:txBody>
        </p:sp>
      </p:grpSp>
      <p:sp>
        <p:nvSpPr>
          <p:cNvPr id="20" name="Rectangle: Rounded Corners 19">
            <a:extLst>
              <a:ext uri="{FF2B5EF4-FFF2-40B4-BE49-F238E27FC236}">
                <a16:creationId xmlns:a16="http://schemas.microsoft.com/office/drawing/2014/main" id="{A2A7560B-C0FE-26AF-17E8-D3747FA12E25}"/>
              </a:ext>
            </a:extLst>
          </p:cNvPr>
          <p:cNvSpPr/>
          <p:nvPr/>
        </p:nvSpPr>
        <p:spPr>
          <a:xfrm>
            <a:off x="575162" y="4198882"/>
            <a:ext cx="4047295" cy="723285"/>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r>
              <a:rPr lang="en-US" sz="2000" i="1" dirty="0">
                <a:solidFill>
                  <a:schemeClr val="tx2"/>
                </a:solidFill>
              </a:rPr>
              <a:t>CODE</a:t>
            </a:r>
            <a:endParaRPr lang="en-IN" sz="2000" i="1" dirty="0">
              <a:solidFill>
                <a:schemeClr val="tx2"/>
              </a:solidFill>
            </a:endParaRPr>
          </a:p>
        </p:txBody>
      </p:sp>
      <p:sp>
        <p:nvSpPr>
          <p:cNvPr id="21" name="Rectangle: Rounded Corners 20">
            <a:extLst>
              <a:ext uri="{FF2B5EF4-FFF2-40B4-BE49-F238E27FC236}">
                <a16:creationId xmlns:a16="http://schemas.microsoft.com/office/drawing/2014/main" id="{4C7C9244-4165-EC05-8B57-6DDF225C566C}"/>
              </a:ext>
            </a:extLst>
          </p:cNvPr>
          <p:cNvSpPr/>
          <p:nvPr/>
        </p:nvSpPr>
        <p:spPr>
          <a:xfrm>
            <a:off x="575161" y="5904511"/>
            <a:ext cx="4047295" cy="723285"/>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r>
              <a:rPr lang="en-US" sz="2000" dirty="0">
                <a:solidFill>
                  <a:schemeClr val="tx2"/>
                </a:solidFill>
              </a:rPr>
              <a:t>FUTURE SCOPE</a:t>
            </a:r>
            <a:endParaRPr lang="en-IN" sz="2000" dirty="0">
              <a:solidFill>
                <a:schemeClr val="tx2"/>
              </a:solidFill>
            </a:endParaRPr>
          </a:p>
        </p:txBody>
      </p:sp>
      <p:sp>
        <p:nvSpPr>
          <p:cNvPr id="22" name="Rectangle: Rounded Corners 21">
            <a:extLst>
              <a:ext uri="{FF2B5EF4-FFF2-40B4-BE49-F238E27FC236}">
                <a16:creationId xmlns:a16="http://schemas.microsoft.com/office/drawing/2014/main" id="{C59BB9B6-CC54-12C0-3A4E-0E9E31F3A282}"/>
              </a:ext>
            </a:extLst>
          </p:cNvPr>
          <p:cNvSpPr/>
          <p:nvPr/>
        </p:nvSpPr>
        <p:spPr>
          <a:xfrm>
            <a:off x="575161" y="5051696"/>
            <a:ext cx="4047295" cy="723285"/>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r>
              <a:rPr lang="en-US" sz="2000" i="1" dirty="0">
                <a:solidFill>
                  <a:schemeClr val="tx2"/>
                </a:solidFill>
              </a:rPr>
              <a:t>PROBLEMS</a:t>
            </a:r>
          </a:p>
          <a:p>
            <a:endParaRPr lang="en-IN" dirty="0">
              <a:solidFill>
                <a:schemeClr val="tx2"/>
              </a:solidFill>
            </a:endParaRPr>
          </a:p>
        </p:txBody>
      </p:sp>
    </p:spTree>
    <p:extLst>
      <p:ext uri="{BB962C8B-B14F-4D97-AF65-F5344CB8AC3E}">
        <p14:creationId xmlns:p14="http://schemas.microsoft.com/office/powerpoint/2010/main" val="2333881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36457AD-0D10-42D8-6B13-B5A316D62C03}"/>
              </a:ext>
            </a:extLst>
          </p:cNvPr>
          <p:cNvSpPr txBox="1"/>
          <p:nvPr/>
        </p:nvSpPr>
        <p:spPr>
          <a:xfrm>
            <a:off x="204281" y="1517516"/>
            <a:ext cx="11264630" cy="4708981"/>
          </a:xfrm>
          <a:prstGeom prst="rect">
            <a:avLst/>
          </a:prstGeom>
          <a:noFill/>
        </p:spPr>
        <p:txBody>
          <a:bodyPr wrap="square">
            <a:spAutoFit/>
          </a:bodyPr>
          <a:lstStyle/>
          <a:p>
            <a:pPr algn="just"/>
            <a:r>
              <a:rPr lang="en-US" sz="2000" dirty="0">
                <a:latin typeface="+mj-lt"/>
              </a:rPr>
              <a:t>In the developing countries like India accidents at the railway crossing are increasing day by day. The main reason of these accidents is negligence of train drivers and gatekeepers. So this system is mostly designed to help railway. This system is also useful for various industries for safety purpose. After all security matters more. It includes opening and closing of gate by the use of Arduino based gate control. Opening and closing of railway level crossing gate involves manpower, which could be often causes incorrect leading to accidents. This system prevents the need of any human involvement at the railway level </a:t>
            </a:r>
            <a:r>
              <a:rPr lang="en-US" sz="2000" dirty="0" err="1">
                <a:latin typeface="+mj-lt"/>
              </a:rPr>
              <a:t>crossing.To</a:t>
            </a:r>
            <a:r>
              <a:rPr lang="en-US" sz="2000" dirty="0">
                <a:latin typeface="+mj-lt"/>
              </a:rPr>
              <a:t> open the gate, a command needs to be sent for the microcontroller to open the gate using motor driver integrated circuit. Both manual and automatically are achieved in this project in case of manual if train arrives and gate open condition IR sensor will detect the train and automatically close the gate. Our system mostly concentrates on the security. The project is designed to achieve control on the railway level crossing gate. Opening and closing of railway level crossing gate involves manpower, which could be often incorrect leading to the accidents. The proposed system prevent any human involvement at the railway level crossing.</a:t>
            </a:r>
            <a:endParaRPr lang="en-IN" sz="2000" dirty="0">
              <a:latin typeface="+mj-lt"/>
            </a:endParaRPr>
          </a:p>
        </p:txBody>
      </p:sp>
      <p:sp>
        <p:nvSpPr>
          <p:cNvPr id="10" name="TextBox 9">
            <a:extLst>
              <a:ext uri="{FF2B5EF4-FFF2-40B4-BE49-F238E27FC236}">
                <a16:creationId xmlns:a16="http://schemas.microsoft.com/office/drawing/2014/main" id="{4E3F289D-0869-1B6B-E7F9-75549D278C10}"/>
              </a:ext>
            </a:extLst>
          </p:cNvPr>
          <p:cNvSpPr txBox="1"/>
          <p:nvPr/>
        </p:nvSpPr>
        <p:spPr>
          <a:xfrm>
            <a:off x="758757" y="446837"/>
            <a:ext cx="5671225" cy="646331"/>
          </a:xfrm>
          <a:prstGeom prst="rect">
            <a:avLst/>
          </a:prstGeom>
          <a:noFill/>
        </p:spPr>
        <p:txBody>
          <a:bodyPr wrap="square" rtlCol="0">
            <a:spAutoFit/>
          </a:bodyPr>
          <a:lstStyle/>
          <a:p>
            <a:r>
              <a:rPr lang="en-US" sz="3600" b="1" i="1" u="sng" dirty="0">
                <a:solidFill>
                  <a:schemeClr val="accent1"/>
                </a:solidFill>
              </a:rPr>
              <a:t>INTRODUCTION</a:t>
            </a:r>
            <a:endParaRPr lang="en-IN" sz="3600" b="1" i="1" u="sng" dirty="0">
              <a:solidFill>
                <a:schemeClr val="accent1"/>
              </a:solidFill>
            </a:endParaRPr>
          </a:p>
        </p:txBody>
      </p:sp>
    </p:spTree>
    <p:extLst>
      <p:ext uri="{BB962C8B-B14F-4D97-AF65-F5344CB8AC3E}">
        <p14:creationId xmlns:p14="http://schemas.microsoft.com/office/powerpoint/2010/main" val="70285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975A9-FD83-E4DD-9277-6B583191BDD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C64E397-B1CA-CE4B-E5E4-CD74D51374FD}"/>
              </a:ext>
            </a:extLst>
          </p:cNvPr>
          <p:cNvSpPr txBox="1"/>
          <p:nvPr/>
        </p:nvSpPr>
        <p:spPr>
          <a:xfrm>
            <a:off x="1786647" y="2163847"/>
            <a:ext cx="8618706" cy="3477875"/>
          </a:xfrm>
          <a:prstGeom prst="rect">
            <a:avLst/>
          </a:prstGeom>
          <a:noFill/>
        </p:spPr>
        <p:txBody>
          <a:bodyPr wrap="square">
            <a:spAutoFit/>
          </a:bodyPr>
          <a:lstStyle/>
          <a:p>
            <a:pPr algn="just"/>
            <a:r>
              <a:rPr lang="en-US" sz="2000" dirty="0"/>
              <a:t>The present system attempts to automate the opening and closing of gates at a railway level crossing. In general, level crossing gates are operated manually by a gate keeper. The gate keeper receives the information about the train arrival from a near station. When the train starts to leave the railway station, the station in-charge or gate keeper this information to the closest gatekeeper to get ready for arriving of train. This human act be avoided by automating the process. Situations where the train is late due to some reasons or heavy rain, the gates remain closed for long durations causing dense traffic jam near the gates. This too can be prevented by automation.</a:t>
            </a:r>
            <a:endParaRPr lang="en-IN" sz="2000" dirty="0">
              <a:latin typeface="+mj-lt"/>
            </a:endParaRPr>
          </a:p>
        </p:txBody>
      </p:sp>
      <p:sp>
        <p:nvSpPr>
          <p:cNvPr id="10" name="TextBox 9">
            <a:extLst>
              <a:ext uri="{FF2B5EF4-FFF2-40B4-BE49-F238E27FC236}">
                <a16:creationId xmlns:a16="http://schemas.microsoft.com/office/drawing/2014/main" id="{6CEAEDCA-97BC-7C9F-9CC0-831E81BF801E}"/>
              </a:ext>
            </a:extLst>
          </p:cNvPr>
          <p:cNvSpPr txBox="1"/>
          <p:nvPr/>
        </p:nvSpPr>
        <p:spPr>
          <a:xfrm>
            <a:off x="758757" y="446837"/>
            <a:ext cx="5671225" cy="646331"/>
          </a:xfrm>
          <a:prstGeom prst="rect">
            <a:avLst/>
          </a:prstGeom>
          <a:noFill/>
        </p:spPr>
        <p:txBody>
          <a:bodyPr wrap="square" rtlCol="0">
            <a:spAutoFit/>
          </a:bodyPr>
          <a:lstStyle/>
          <a:p>
            <a:r>
              <a:rPr lang="en-US" sz="3600" b="1" i="1" u="sng" dirty="0">
                <a:solidFill>
                  <a:schemeClr val="accent1"/>
                </a:solidFill>
              </a:rPr>
              <a:t>INTRODUCTION</a:t>
            </a:r>
            <a:endParaRPr lang="en-IN" sz="3600" b="1" i="1" u="sng" dirty="0">
              <a:solidFill>
                <a:schemeClr val="accent1"/>
              </a:solidFill>
            </a:endParaRPr>
          </a:p>
        </p:txBody>
      </p:sp>
    </p:spTree>
    <p:extLst>
      <p:ext uri="{BB962C8B-B14F-4D97-AF65-F5344CB8AC3E}">
        <p14:creationId xmlns:p14="http://schemas.microsoft.com/office/powerpoint/2010/main" val="1530960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C2714451-7DC9-E071-1D43-844C95B2390B}"/>
            </a:ext>
          </a:extLst>
        </p:cNvPr>
        <p:cNvGrpSpPr/>
        <p:nvPr/>
      </p:nvGrpSpPr>
      <p:grpSpPr>
        <a:xfrm>
          <a:off x="0" y="0"/>
          <a:ext cx="0" cy="0"/>
          <a:chOff x="0" y="0"/>
          <a:chExt cx="0" cy="0"/>
        </a:xfrm>
      </p:grpSpPr>
      <p:pic>
        <p:nvPicPr>
          <p:cNvPr id="49" name="Picture 48">
            <a:extLst>
              <a:ext uri="{FF2B5EF4-FFF2-40B4-BE49-F238E27FC236}">
                <a16:creationId xmlns:a16="http://schemas.microsoft.com/office/drawing/2014/main" id="{38030110-E28D-7B69-C906-A5C992C8BD1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a:ext>
            </a:extLst>
          </a:blip>
          <a:srcRect l="3613"/>
          <a:stretch/>
        </p:blipFill>
        <p:spPr>
          <a:xfrm>
            <a:off x="0" y="2669685"/>
            <a:ext cx="4037012" cy="4188315"/>
          </a:xfrm>
          <a:prstGeom prst="rect">
            <a:avLst/>
          </a:prstGeom>
        </p:spPr>
      </p:pic>
      <p:pic>
        <p:nvPicPr>
          <p:cNvPr id="51" name="Picture 50">
            <a:extLst>
              <a:ext uri="{FF2B5EF4-FFF2-40B4-BE49-F238E27FC236}">
                <a16:creationId xmlns:a16="http://schemas.microsoft.com/office/drawing/2014/main" id="{9DE8490F-5B01-6789-EAD5-17227F1EC9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a:ext>
            </a:extLst>
          </a:blip>
          <a:srcRect l="35640"/>
          <a:stretch/>
        </p:blipFill>
        <p:spPr>
          <a:xfrm>
            <a:off x="0" y="2892347"/>
            <a:ext cx="1522412" cy="2365453"/>
          </a:xfrm>
          <a:prstGeom prst="rect">
            <a:avLst/>
          </a:prstGeom>
        </p:spPr>
      </p:pic>
      <p:sp>
        <p:nvSpPr>
          <p:cNvPr id="53" name="Oval 52">
            <a:extLst>
              <a:ext uri="{FF2B5EF4-FFF2-40B4-BE49-F238E27FC236}">
                <a16:creationId xmlns:a16="http://schemas.microsoft.com/office/drawing/2014/main" id="{3C7441EA-6D23-76FE-560F-8F9BC3ED56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55" name="Picture 54">
            <a:extLst>
              <a:ext uri="{FF2B5EF4-FFF2-40B4-BE49-F238E27FC236}">
                <a16:creationId xmlns:a16="http://schemas.microsoft.com/office/drawing/2014/main" id="{45F7C8BB-0B34-E57A-C271-2F032CCA345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a:ext>
            </a:extLst>
          </a:blip>
          <a:srcRect t="28813"/>
          <a:stretch/>
        </p:blipFill>
        <p:spPr>
          <a:xfrm>
            <a:off x="7999412" y="0"/>
            <a:ext cx="1603387" cy="1141407"/>
          </a:xfrm>
          <a:prstGeom prst="rect">
            <a:avLst/>
          </a:prstGeom>
        </p:spPr>
      </p:pic>
      <p:pic>
        <p:nvPicPr>
          <p:cNvPr id="57" name="Picture 56">
            <a:extLst>
              <a:ext uri="{FF2B5EF4-FFF2-40B4-BE49-F238E27FC236}">
                <a16:creationId xmlns:a16="http://schemas.microsoft.com/office/drawing/2014/main" id="{3BF1087B-55AF-26D8-B800-4511013026C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a:ext>
            </a:extLst>
          </a:blip>
          <a:srcRect b="23320"/>
          <a:stretch/>
        </p:blipFill>
        <p:spPr>
          <a:xfrm>
            <a:off x="8609012" y="6096000"/>
            <a:ext cx="993734" cy="762000"/>
          </a:xfrm>
          <a:prstGeom prst="rect">
            <a:avLst/>
          </a:prstGeom>
        </p:spPr>
      </p:pic>
      <p:sp>
        <p:nvSpPr>
          <p:cNvPr id="59" name="Rectangle 58">
            <a:extLst>
              <a:ext uri="{FF2B5EF4-FFF2-40B4-BE49-F238E27FC236}">
                <a16:creationId xmlns:a16="http://schemas.microsoft.com/office/drawing/2014/main" id="{B738DF9F-E602-C30C-1C71-EA3316B98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TextBox 7">
            <a:extLst>
              <a:ext uri="{FF2B5EF4-FFF2-40B4-BE49-F238E27FC236}">
                <a16:creationId xmlns:a16="http://schemas.microsoft.com/office/drawing/2014/main" id="{55DB4F8A-02FC-DB72-0C35-47A52701EEBC}"/>
              </a:ext>
            </a:extLst>
          </p:cNvPr>
          <p:cNvSpPr txBox="1"/>
          <p:nvPr/>
        </p:nvSpPr>
        <p:spPr>
          <a:xfrm>
            <a:off x="982494" y="282102"/>
            <a:ext cx="7830766" cy="646331"/>
          </a:xfrm>
          <a:prstGeom prst="rect">
            <a:avLst/>
          </a:prstGeom>
          <a:noFill/>
        </p:spPr>
        <p:txBody>
          <a:bodyPr wrap="square" rtlCol="0">
            <a:spAutoFit/>
          </a:bodyPr>
          <a:lstStyle/>
          <a:p>
            <a:r>
              <a:rPr lang="en-US" sz="3600" b="1" i="1" u="sng" dirty="0">
                <a:solidFill>
                  <a:schemeClr val="accent1"/>
                </a:solidFill>
              </a:rPr>
              <a:t>WORKING</a:t>
            </a:r>
            <a:r>
              <a:rPr lang="en-US" sz="2400" b="1" i="1" dirty="0"/>
              <a:t> </a:t>
            </a:r>
            <a:endParaRPr lang="en-IN" sz="2400" b="1" i="1" dirty="0"/>
          </a:p>
        </p:txBody>
      </p:sp>
      <p:sp>
        <p:nvSpPr>
          <p:cNvPr id="3" name="TextBox 2">
            <a:extLst>
              <a:ext uri="{FF2B5EF4-FFF2-40B4-BE49-F238E27FC236}">
                <a16:creationId xmlns:a16="http://schemas.microsoft.com/office/drawing/2014/main" id="{86C80067-938D-0C22-ACE0-CA7C90C31D94}"/>
              </a:ext>
            </a:extLst>
          </p:cNvPr>
          <p:cNvSpPr txBox="1"/>
          <p:nvPr/>
        </p:nvSpPr>
        <p:spPr>
          <a:xfrm>
            <a:off x="431228" y="1676400"/>
            <a:ext cx="5249726" cy="4708981"/>
          </a:xfrm>
          <a:prstGeom prst="rect">
            <a:avLst/>
          </a:prstGeom>
          <a:noFill/>
        </p:spPr>
        <p:txBody>
          <a:bodyPr wrap="square">
            <a:spAutoFit/>
          </a:bodyPr>
          <a:lstStyle/>
          <a:p>
            <a:pPr algn="just"/>
            <a:r>
              <a:rPr lang="en-IN" sz="2000" dirty="0"/>
              <a:t>In this proposed model we use USB cable to connect the Arduino Uno to the PC that will supply the power Arduino Uno and the sensors are powered by 9v battery. After this Supply is given to ARDUINO the servo motor/DC motor and IR sensor are controlled and interfaced through the ARDUINO. Now the IR sensor senses the arrival/departure of the Train and accordingly closes and opens the crossing gates. Using servo motor to control the gateway system at the crossing itself takes the corresponding action to whether open or close the gateway accordingly.</a:t>
            </a:r>
          </a:p>
        </p:txBody>
      </p:sp>
      <p:pic>
        <p:nvPicPr>
          <p:cNvPr id="5" name="Picture 4">
            <a:extLst>
              <a:ext uri="{FF2B5EF4-FFF2-40B4-BE49-F238E27FC236}">
                <a16:creationId xmlns:a16="http://schemas.microsoft.com/office/drawing/2014/main" id="{F36342EA-BD0E-FD86-2EDF-E7828623DB76}"/>
              </a:ext>
            </a:extLst>
          </p:cNvPr>
          <p:cNvPicPr>
            <a:picLocks noChangeAspect="1"/>
          </p:cNvPicPr>
          <p:nvPr/>
        </p:nvPicPr>
        <p:blipFill>
          <a:blip r:embed="rId8"/>
          <a:stretch>
            <a:fillRect/>
          </a:stretch>
        </p:blipFill>
        <p:spPr>
          <a:xfrm>
            <a:off x="5769361" y="2185509"/>
            <a:ext cx="6244332" cy="3072291"/>
          </a:xfrm>
          <a:prstGeom prst="rect">
            <a:avLst/>
          </a:prstGeom>
        </p:spPr>
      </p:pic>
    </p:spTree>
    <p:extLst>
      <p:ext uri="{BB962C8B-B14F-4D97-AF65-F5344CB8AC3E}">
        <p14:creationId xmlns:p14="http://schemas.microsoft.com/office/powerpoint/2010/main" val="3351224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292F0AE7-BA27-61AD-45C3-247F347CFA14}"/>
              </a:ext>
            </a:extLst>
          </p:cNvPr>
          <p:cNvSpPr txBox="1"/>
          <p:nvPr/>
        </p:nvSpPr>
        <p:spPr>
          <a:xfrm>
            <a:off x="311285" y="252919"/>
            <a:ext cx="5058383" cy="646331"/>
          </a:xfrm>
          <a:prstGeom prst="rect">
            <a:avLst/>
          </a:prstGeom>
          <a:noFill/>
        </p:spPr>
        <p:txBody>
          <a:bodyPr wrap="square" rtlCol="0">
            <a:spAutoFit/>
          </a:bodyPr>
          <a:lstStyle/>
          <a:p>
            <a:r>
              <a:rPr lang="en-US" sz="3600" b="1" i="1" u="sng" dirty="0"/>
              <a:t>COMPONENTS USED:</a:t>
            </a:r>
            <a:endParaRPr lang="en-IN" sz="3600" b="1" i="1" u="sng" dirty="0"/>
          </a:p>
        </p:txBody>
      </p:sp>
      <p:sp>
        <p:nvSpPr>
          <p:cNvPr id="7" name="TextBox 6">
            <a:extLst>
              <a:ext uri="{FF2B5EF4-FFF2-40B4-BE49-F238E27FC236}">
                <a16:creationId xmlns:a16="http://schemas.microsoft.com/office/drawing/2014/main" id="{7332D3E1-0B54-BB3D-D30A-83E292AAB58B}"/>
              </a:ext>
            </a:extLst>
          </p:cNvPr>
          <p:cNvSpPr txBox="1"/>
          <p:nvPr/>
        </p:nvSpPr>
        <p:spPr>
          <a:xfrm>
            <a:off x="165371" y="1143000"/>
            <a:ext cx="7655668" cy="2462213"/>
          </a:xfrm>
          <a:prstGeom prst="rect">
            <a:avLst/>
          </a:prstGeom>
          <a:noFill/>
        </p:spPr>
        <p:txBody>
          <a:bodyPr wrap="square" rtlCol="0">
            <a:spAutoFit/>
          </a:bodyPr>
          <a:lstStyle/>
          <a:p>
            <a:r>
              <a:rPr lang="en-US" sz="2800" b="1" u="sng" dirty="0"/>
              <a:t>Arduino Uno</a:t>
            </a:r>
            <a:endParaRPr lang="en-US" sz="2800" dirty="0"/>
          </a:p>
          <a:p>
            <a:pPr algn="just"/>
            <a:r>
              <a:rPr lang="en-US" dirty="0"/>
              <a:t>The Arduino UNO is a widely used open-source microcontroller </a:t>
            </a:r>
            <a:r>
              <a:rPr lang="en-US" dirty="0" err="1"/>
              <a:t>boardbased</a:t>
            </a:r>
            <a:r>
              <a:rPr lang="en-US" dirty="0"/>
              <a:t> on the ATmega328P microcontroller and developed byArduino.cc. The board is equipped with sets of digital and </a:t>
            </a:r>
            <a:r>
              <a:rPr lang="en-US" dirty="0" err="1"/>
              <a:t>analoginput</a:t>
            </a:r>
            <a:r>
              <a:rPr lang="en-US" dirty="0"/>
              <a:t>/output (I/O) pins that may be interfaced to various </a:t>
            </a:r>
            <a:r>
              <a:rPr lang="en-US" dirty="0" err="1"/>
              <a:t>expansionboards</a:t>
            </a:r>
            <a:r>
              <a:rPr lang="en-US" dirty="0"/>
              <a:t> (shields) and other circuits.[1] The board features 14 Digital </a:t>
            </a:r>
            <a:r>
              <a:rPr lang="en-US" dirty="0" err="1"/>
              <a:t>pinsand</a:t>
            </a:r>
            <a:r>
              <a:rPr lang="en-US" dirty="0"/>
              <a:t> 6 Analog pins. It is programmable with the Arduino IDE(Integrated Development</a:t>
            </a:r>
            <a:endParaRPr lang="en-IN" dirty="0"/>
          </a:p>
        </p:txBody>
      </p:sp>
      <p:pic>
        <p:nvPicPr>
          <p:cNvPr id="14" name="Picture 13">
            <a:extLst>
              <a:ext uri="{FF2B5EF4-FFF2-40B4-BE49-F238E27FC236}">
                <a16:creationId xmlns:a16="http://schemas.microsoft.com/office/drawing/2014/main" id="{92CA8814-D418-67EB-3A0D-6BA090EF51D9}"/>
              </a:ext>
            </a:extLst>
          </p:cNvPr>
          <p:cNvPicPr>
            <a:picLocks noChangeAspect="1"/>
          </p:cNvPicPr>
          <p:nvPr/>
        </p:nvPicPr>
        <p:blipFill>
          <a:blip r:embed="rId4"/>
          <a:srcRect l="3870"/>
          <a:stretch/>
        </p:blipFill>
        <p:spPr>
          <a:xfrm>
            <a:off x="8078855" y="1354827"/>
            <a:ext cx="2908570" cy="2250386"/>
          </a:xfrm>
          <a:prstGeom prst="rect">
            <a:avLst/>
          </a:prstGeom>
        </p:spPr>
      </p:pic>
      <p:sp>
        <p:nvSpPr>
          <p:cNvPr id="17" name="TextBox 16">
            <a:extLst>
              <a:ext uri="{FF2B5EF4-FFF2-40B4-BE49-F238E27FC236}">
                <a16:creationId xmlns:a16="http://schemas.microsoft.com/office/drawing/2014/main" id="{5AABC96F-8135-6FF0-8487-619D8DBDEF82}"/>
              </a:ext>
            </a:extLst>
          </p:cNvPr>
          <p:cNvSpPr txBox="1"/>
          <p:nvPr/>
        </p:nvSpPr>
        <p:spPr>
          <a:xfrm>
            <a:off x="165371" y="4036100"/>
            <a:ext cx="6094378" cy="2462213"/>
          </a:xfrm>
          <a:prstGeom prst="rect">
            <a:avLst/>
          </a:prstGeom>
          <a:noFill/>
        </p:spPr>
        <p:txBody>
          <a:bodyPr wrap="square">
            <a:spAutoFit/>
          </a:bodyPr>
          <a:lstStyle/>
          <a:p>
            <a:r>
              <a:rPr lang="en-US" sz="2800" b="1" u="sng" dirty="0"/>
              <a:t>Servo Motor:</a:t>
            </a:r>
            <a:endParaRPr lang="en-US" dirty="0"/>
          </a:p>
          <a:p>
            <a:pPr algn="just"/>
            <a:r>
              <a:rPr lang="en-US" dirty="0"/>
              <a:t> A servomotor is a rotary actuator or linear actuator that allows for precise control of angular or linear position, velocity and acceleration. It consists of a suitable motor coupled to a sensor for position feedback. The servo motor is controlled by a signal (data) better known as a pulse-width modulator (PWM).</a:t>
            </a:r>
            <a:endParaRPr lang="en-IN" dirty="0"/>
          </a:p>
        </p:txBody>
      </p:sp>
      <p:pic>
        <p:nvPicPr>
          <p:cNvPr id="1028" name="Picture 4">
            <a:extLst>
              <a:ext uri="{FF2B5EF4-FFF2-40B4-BE49-F238E27FC236}">
                <a16:creationId xmlns:a16="http://schemas.microsoft.com/office/drawing/2014/main" id="{1F82A209-815B-2CA8-C3A1-5FA7789195D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075" t="12479" r="16276" b="11422"/>
          <a:stretch/>
        </p:blipFill>
        <p:spPr bwMode="auto">
          <a:xfrm>
            <a:off x="8078855" y="4142013"/>
            <a:ext cx="2908570" cy="2250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767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71F81AC8-EADF-47DA-91A1-A016A6A7E23B}"/>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FAAE852D-2F3D-07B7-1A05-C4631D8BB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4" name="Picture 3">
            <a:extLst>
              <a:ext uri="{FF2B5EF4-FFF2-40B4-BE49-F238E27FC236}">
                <a16:creationId xmlns:a16="http://schemas.microsoft.com/office/drawing/2014/main" id="{B477D7FB-281A-BF96-D0B9-C334CA0DD021}"/>
              </a:ext>
            </a:extLst>
          </p:cNvPr>
          <p:cNvPicPr>
            <a:picLocks noChangeAspect="1"/>
          </p:cNvPicPr>
          <p:nvPr/>
        </p:nvPicPr>
        <p:blipFill>
          <a:blip r:embed="rId4"/>
          <a:stretch>
            <a:fillRect/>
          </a:stretch>
        </p:blipFill>
        <p:spPr>
          <a:xfrm>
            <a:off x="309253" y="182776"/>
            <a:ext cx="11573493" cy="6492447"/>
          </a:xfrm>
          <a:prstGeom prst="rect">
            <a:avLst/>
          </a:prstGeom>
        </p:spPr>
      </p:pic>
    </p:spTree>
    <p:extLst>
      <p:ext uri="{BB962C8B-B14F-4D97-AF65-F5344CB8AC3E}">
        <p14:creationId xmlns:p14="http://schemas.microsoft.com/office/powerpoint/2010/main" val="3169092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B5DB3D65-CDE6-49C7-C87D-FB776C46665C}"/>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E88CD701-D313-5D10-3C0D-1C5F5B036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7DCA169A-5C07-CFCD-3E14-1D1988DEB3ED}"/>
              </a:ext>
            </a:extLst>
          </p:cNvPr>
          <p:cNvSpPr txBox="1"/>
          <p:nvPr/>
        </p:nvSpPr>
        <p:spPr>
          <a:xfrm>
            <a:off x="311285" y="252919"/>
            <a:ext cx="5058383" cy="646331"/>
          </a:xfrm>
          <a:prstGeom prst="rect">
            <a:avLst/>
          </a:prstGeom>
          <a:noFill/>
        </p:spPr>
        <p:txBody>
          <a:bodyPr wrap="square" rtlCol="0">
            <a:spAutoFit/>
          </a:bodyPr>
          <a:lstStyle/>
          <a:p>
            <a:r>
              <a:rPr lang="en-US" sz="3600" b="1" i="1" u="sng" dirty="0"/>
              <a:t>COMPONENTS USED:</a:t>
            </a:r>
            <a:endParaRPr lang="en-IN" sz="3600" b="1" i="1" u="sng" dirty="0"/>
          </a:p>
        </p:txBody>
      </p:sp>
      <p:sp>
        <p:nvSpPr>
          <p:cNvPr id="2" name="TextBox 1">
            <a:extLst>
              <a:ext uri="{FF2B5EF4-FFF2-40B4-BE49-F238E27FC236}">
                <a16:creationId xmlns:a16="http://schemas.microsoft.com/office/drawing/2014/main" id="{1FFD996E-3752-0565-E4A4-C02EB26F1333}"/>
              </a:ext>
            </a:extLst>
          </p:cNvPr>
          <p:cNvSpPr txBox="1"/>
          <p:nvPr/>
        </p:nvSpPr>
        <p:spPr>
          <a:xfrm>
            <a:off x="192858" y="1143000"/>
            <a:ext cx="6167338" cy="4278094"/>
          </a:xfrm>
          <a:prstGeom prst="rect">
            <a:avLst/>
          </a:prstGeom>
          <a:noFill/>
        </p:spPr>
        <p:txBody>
          <a:bodyPr wrap="square" rtlCol="0">
            <a:spAutoFit/>
          </a:bodyPr>
          <a:lstStyle/>
          <a:p>
            <a:r>
              <a:rPr lang="en-US" sz="2800" b="1" u="sng" dirty="0"/>
              <a:t>IR Sensor:</a:t>
            </a:r>
          </a:p>
          <a:p>
            <a:endParaRPr lang="en-US" sz="2800" b="1" u="sng" dirty="0"/>
          </a:p>
          <a:p>
            <a:pPr algn="just"/>
            <a:r>
              <a:rPr lang="en-US" dirty="0"/>
              <a:t> An infrared sensor is an electronic device, that emits in order to sense some aspects of the surroundings. An IR sensor can measure the heat of an object as well as detects the motion. These types of sensors measures only infrared radiation, rather than emitting it that is called as a passive IR sensor. An infrared sensor is an electronic device, that emits in order to sense some aspects of the surroundings. Usually in the infrared spectrum, all the objects radiate some form of thermal radiations. These types of radiations are invisible to our eyes, but can be detected by an infrared sensor. </a:t>
            </a:r>
            <a:endParaRPr lang="en-IN" dirty="0"/>
          </a:p>
        </p:txBody>
      </p:sp>
      <p:pic>
        <p:nvPicPr>
          <p:cNvPr id="2050" name="Picture 2">
            <a:extLst>
              <a:ext uri="{FF2B5EF4-FFF2-40B4-BE49-F238E27FC236}">
                <a16:creationId xmlns:a16="http://schemas.microsoft.com/office/drawing/2014/main" id="{BFFE0CC7-4E84-CBA3-E3C2-B0F62C3D81A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29" t="26526" r="4562" b="26383"/>
          <a:stretch/>
        </p:blipFill>
        <p:spPr bwMode="auto">
          <a:xfrm>
            <a:off x="6887122" y="2003898"/>
            <a:ext cx="4951439" cy="2509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233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AE824-DC11-0441-7618-D20A871DDE1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38F9BD0-3FD0-70D4-F65C-A43DC07B4319}"/>
              </a:ext>
            </a:extLst>
          </p:cNvPr>
          <p:cNvSpPr txBox="1"/>
          <p:nvPr/>
        </p:nvSpPr>
        <p:spPr>
          <a:xfrm>
            <a:off x="311285" y="252919"/>
            <a:ext cx="5058383" cy="646331"/>
          </a:xfrm>
          <a:prstGeom prst="rect">
            <a:avLst/>
          </a:prstGeom>
          <a:noFill/>
        </p:spPr>
        <p:txBody>
          <a:bodyPr wrap="square" rtlCol="0">
            <a:spAutoFit/>
          </a:bodyPr>
          <a:lstStyle/>
          <a:p>
            <a:r>
              <a:rPr lang="en-US" sz="3600" b="1" i="1" u="sng" dirty="0"/>
              <a:t>SOFTWARE USED:</a:t>
            </a:r>
            <a:endParaRPr lang="en-IN" sz="3600" b="1" i="1" u="sng" dirty="0"/>
          </a:p>
        </p:txBody>
      </p:sp>
      <p:sp>
        <p:nvSpPr>
          <p:cNvPr id="2" name="TextBox 1">
            <a:extLst>
              <a:ext uri="{FF2B5EF4-FFF2-40B4-BE49-F238E27FC236}">
                <a16:creationId xmlns:a16="http://schemas.microsoft.com/office/drawing/2014/main" id="{E71502A3-CE7B-5994-9FA9-E7F2B4823CBA}"/>
              </a:ext>
            </a:extLst>
          </p:cNvPr>
          <p:cNvSpPr txBox="1"/>
          <p:nvPr/>
        </p:nvSpPr>
        <p:spPr>
          <a:xfrm>
            <a:off x="311285" y="1218991"/>
            <a:ext cx="4776281" cy="5386090"/>
          </a:xfrm>
          <a:prstGeom prst="rect">
            <a:avLst/>
          </a:prstGeom>
          <a:noFill/>
        </p:spPr>
        <p:txBody>
          <a:bodyPr wrap="square" rtlCol="0">
            <a:spAutoFit/>
          </a:bodyPr>
          <a:lstStyle/>
          <a:p>
            <a:r>
              <a:rPr lang="en-US" sz="2800" b="1" u="sng" dirty="0"/>
              <a:t>ARDUINO IDE: </a:t>
            </a:r>
          </a:p>
          <a:p>
            <a:endParaRPr lang="en-US" sz="2800" b="1" u="sng" dirty="0"/>
          </a:p>
          <a:p>
            <a:pPr algn="just"/>
            <a:r>
              <a:rPr lang="en-US" sz="2400" dirty="0"/>
              <a:t>The Arduino Integrated Development Environment - or Arduino Software (IDE) - contains a text editor for writing code, a message area, a text console, a toolbar with buttons for common functions and a series of menus. It connects to the Arduino and </a:t>
            </a:r>
            <a:r>
              <a:rPr lang="en-US" sz="2400" dirty="0" err="1"/>
              <a:t>Genuino</a:t>
            </a:r>
            <a:r>
              <a:rPr lang="en-US" sz="2400" dirty="0"/>
              <a:t> hardware to upload programs and communicate with them. </a:t>
            </a:r>
            <a:endParaRPr lang="en-IN" sz="2400" dirty="0"/>
          </a:p>
        </p:txBody>
      </p:sp>
      <p:pic>
        <p:nvPicPr>
          <p:cNvPr id="3074" name="Picture 2">
            <a:extLst>
              <a:ext uri="{FF2B5EF4-FFF2-40B4-BE49-F238E27FC236}">
                <a16:creationId xmlns:a16="http://schemas.microsoft.com/office/drawing/2014/main" id="{7AA605DE-B0EE-9620-279A-49D9DB04FC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368"/>
          <a:stretch/>
        </p:blipFill>
        <p:spPr bwMode="auto">
          <a:xfrm>
            <a:off x="5369668" y="1464328"/>
            <a:ext cx="6252573" cy="5072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3085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2CED2BE-A524-1A0E-DD94-A291A3DAD28C}"/>
              </a:ext>
            </a:extLst>
          </p:cNvPr>
          <p:cNvSpPr txBox="1"/>
          <p:nvPr/>
        </p:nvSpPr>
        <p:spPr>
          <a:xfrm>
            <a:off x="1002073" y="1605064"/>
            <a:ext cx="10187851" cy="4595232"/>
          </a:xfrm>
          <a:prstGeom prst="rect">
            <a:avLst/>
          </a:prstGeom>
          <a:solidFill>
            <a:schemeClr val="bg1">
              <a:lumMod val="85000"/>
              <a:lumOff val="15000"/>
              <a:alpha val="75000"/>
            </a:schemeClr>
          </a:solidFill>
        </p:spPr>
        <p:txBody>
          <a:bodyPr wrap="square">
            <a:spAutoFit/>
          </a:bodyPr>
          <a:lstStyle/>
          <a:p>
            <a:pPr>
              <a:lnSpc>
                <a:spcPts val="1425"/>
              </a:lnSpc>
            </a:pPr>
            <a:r>
              <a:rPr lang="en-IN" b="0" dirty="0">
                <a:solidFill>
                  <a:srgbClr val="C586C0"/>
                </a:solidFill>
                <a:effectLst/>
                <a:latin typeface="Consolas" panose="020B0609020204030204" pitchFamily="49" charset="0"/>
              </a:rPr>
              <a:t>#include</a:t>
            </a:r>
            <a:r>
              <a:rPr lang="en-IN" b="0" dirty="0">
                <a:solidFill>
                  <a:srgbClr val="DAE3E3"/>
                </a:solidFill>
                <a:effectLst/>
                <a:latin typeface="Consolas" panose="020B0609020204030204" pitchFamily="49" charset="0"/>
              </a:rPr>
              <a:t> </a:t>
            </a:r>
            <a:r>
              <a:rPr lang="en-IN" b="0" dirty="0">
                <a:solidFill>
                  <a:srgbClr val="7FCBCD"/>
                </a:solidFill>
                <a:effectLst/>
                <a:latin typeface="Consolas" panose="020B0609020204030204" pitchFamily="49" charset="0"/>
              </a:rPr>
              <a:t>&lt;</a:t>
            </a:r>
            <a:r>
              <a:rPr lang="en-IN" b="0" dirty="0" err="1">
                <a:solidFill>
                  <a:srgbClr val="7FCBCD"/>
                </a:solidFill>
                <a:effectLst/>
                <a:latin typeface="Consolas" panose="020B0609020204030204" pitchFamily="49" charset="0"/>
              </a:rPr>
              <a:t>Servo.h</a:t>
            </a:r>
            <a:r>
              <a:rPr lang="en-IN" b="0" dirty="0">
                <a:solidFill>
                  <a:srgbClr val="7FCBCD"/>
                </a:solidFill>
                <a:effectLst/>
                <a:latin typeface="Consolas" panose="020B0609020204030204" pitchFamily="49" charset="0"/>
              </a:rPr>
              <a:t>&gt;</a:t>
            </a:r>
            <a:endParaRPr lang="en-IN" b="0" dirty="0">
              <a:solidFill>
                <a:srgbClr val="DAE3E3"/>
              </a:solidFill>
              <a:effectLst/>
              <a:latin typeface="Consolas" panose="020B0609020204030204" pitchFamily="49" charset="0"/>
            </a:endParaRPr>
          </a:p>
          <a:p>
            <a:pPr>
              <a:lnSpc>
                <a:spcPts val="1425"/>
              </a:lnSpc>
            </a:pPr>
            <a:br>
              <a:rPr lang="en-IN" b="0" dirty="0">
                <a:solidFill>
                  <a:srgbClr val="DAE3E3"/>
                </a:solidFill>
                <a:effectLst/>
                <a:latin typeface="Consolas" panose="020B0609020204030204" pitchFamily="49" charset="0"/>
              </a:rPr>
            </a:br>
            <a:r>
              <a:rPr lang="en-IN" b="0" dirty="0">
                <a:solidFill>
                  <a:srgbClr val="DAE3E3"/>
                </a:solidFill>
                <a:effectLst/>
                <a:latin typeface="Consolas" panose="020B0609020204030204" pitchFamily="49" charset="0"/>
              </a:rPr>
              <a:t>Servo </a:t>
            </a:r>
            <a:r>
              <a:rPr lang="en-IN" b="0" dirty="0" err="1">
                <a:solidFill>
                  <a:srgbClr val="DAE3E3"/>
                </a:solidFill>
                <a:effectLst/>
                <a:latin typeface="Consolas" panose="020B0609020204030204" pitchFamily="49" charset="0"/>
              </a:rPr>
              <a:t>serv</a:t>
            </a:r>
            <a:r>
              <a:rPr lang="en-IN" b="0" dirty="0">
                <a:solidFill>
                  <a:srgbClr val="DAE3E3"/>
                </a:solidFill>
                <a:effectLst/>
                <a:latin typeface="Consolas" panose="020B0609020204030204" pitchFamily="49" charset="0"/>
              </a:rPr>
              <a:t>;</a:t>
            </a:r>
          </a:p>
          <a:p>
            <a:pPr>
              <a:lnSpc>
                <a:spcPts val="1425"/>
              </a:lnSpc>
            </a:pPr>
            <a:r>
              <a:rPr lang="en-IN" b="0" dirty="0">
                <a:solidFill>
                  <a:srgbClr val="0CA1A6"/>
                </a:solidFill>
                <a:effectLst/>
                <a:latin typeface="Consolas" panose="020B0609020204030204" pitchFamily="49" charset="0"/>
              </a:rPr>
              <a:t>int</a:t>
            </a:r>
            <a:r>
              <a:rPr lang="en-IN" b="0" dirty="0">
                <a:solidFill>
                  <a:srgbClr val="DAE3E3"/>
                </a:solidFill>
                <a:effectLst/>
                <a:latin typeface="Consolas" panose="020B0609020204030204" pitchFamily="49" charset="0"/>
              </a:rPr>
              <a:t> pinir1=A1;</a:t>
            </a:r>
          </a:p>
          <a:p>
            <a:pPr>
              <a:lnSpc>
                <a:spcPts val="1425"/>
              </a:lnSpc>
            </a:pPr>
            <a:r>
              <a:rPr lang="en-IN" b="0" dirty="0">
                <a:solidFill>
                  <a:srgbClr val="0CA1A6"/>
                </a:solidFill>
                <a:effectLst/>
                <a:latin typeface="Consolas" panose="020B0609020204030204" pitchFamily="49" charset="0"/>
              </a:rPr>
              <a:t>int</a:t>
            </a:r>
            <a:r>
              <a:rPr lang="en-IN" b="0" dirty="0">
                <a:solidFill>
                  <a:srgbClr val="DAE3E3"/>
                </a:solidFill>
                <a:effectLst/>
                <a:latin typeface="Consolas" panose="020B0609020204030204" pitchFamily="49" charset="0"/>
              </a:rPr>
              <a:t> pinir2=A2;</a:t>
            </a:r>
          </a:p>
          <a:p>
            <a:pPr>
              <a:lnSpc>
                <a:spcPts val="1425"/>
              </a:lnSpc>
            </a:pPr>
            <a:r>
              <a:rPr lang="en-IN" b="0" dirty="0">
                <a:solidFill>
                  <a:srgbClr val="0CA1A6"/>
                </a:solidFill>
                <a:effectLst/>
                <a:latin typeface="Consolas" panose="020B0609020204030204" pitchFamily="49" charset="0"/>
              </a:rPr>
              <a:t>int</a:t>
            </a:r>
            <a:r>
              <a:rPr lang="en-IN" b="0" dirty="0">
                <a:solidFill>
                  <a:srgbClr val="DAE3E3"/>
                </a:solidFill>
                <a:effectLst/>
                <a:latin typeface="Consolas" panose="020B0609020204030204" pitchFamily="49" charset="0"/>
              </a:rPr>
              <a:t> </a:t>
            </a:r>
            <a:r>
              <a:rPr lang="en-IN" b="0" dirty="0" err="1">
                <a:solidFill>
                  <a:srgbClr val="DAE3E3"/>
                </a:solidFill>
                <a:effectLst/>
                <a:latin typeface="Consolas" panose="020B0609020204030204" pitchFamily="49" charset="0"/>
              </a:rPr>
              <a:t>servopin</a:t>
            </a:r>
            <a:r>
              <a:rPr lang="en-IN" b="0" dirty="0">
                <a:solidFill>
                  <a:srgbClr val="DAE3E3"/>
                </a:solidFill>
                <a:effectLst/>
                <a:latin typeface="Consolas" panose="020B0609020204030204" pitchFamily="49" charset="0"/>
              </a:rPr>
              <a:t>=</a:t>
            </a:r>
            <a:r>
              <a:rPr lang="en-IN" b="0" dirty="0">
                <a:solidFill>
                  <a:srgbClr val="7FCBCD"/>
                </a:solidFill>
                <a:effectLst/>
                <a:latin typeface="Consolas" panose="020B0609020204030204" pitchFamily="49" charset="0"/>
              </a:rPr>
              <a:t>9</a:t>
            </a:r>
            <a:r>
              <a:rPr lang="en-IN" b="0" dirty="0">
                <a:solidFill>
                  <a:srgbClr val="DAE3E3"/>
                </a:solidFill>
                <a:effectLst/>
                <a:latin typeface="Consolas" panose="020B0609020204030204" pitchFamily="49" charset="0"/>
              </a:rPr>
              <a:t>;</a:t>
            </a:r>
          </a:p>
          <a:p>
            <a:pPr>
              <a:lnSpc>
                <a:spcPts val="1425"/>
              </a:lnSpc>
            </a:pPr>
            <a:r>
              <a:rPr lang="en-IN" b="0" dirty="0">
                <a:solidFill>
                  <a:srgbClr val="0CA1A6"/>
                </a:solidFill>
                <a:effectLst/>
                <a:latin typeface="Consolas" panose="020B0609020204030204" pitchFamily="49" charset="0"/>
              </a:rPr>
              <a:t>int</a:t>
            </a:r>
            <a:r>
              <a:rPr lang="en-IN" b="0" dirty="0">
                <a:solidFill>
                  <a:srgbClr val="DAE3E3"/>
                </a:solidFill>
                <a:effectLst/>
                <a:latin typeface="Consolas" panose="020B0609020204030204" pitchFamily="49" charset="0"/>
              </a:rPr>
              <a:t> signal1=</a:t>
            </a:r>
            <a:r>
              <a:rPr lang="en-IN" b="0" dirty="0">
                <a:solidFill>
                  <a:srgbClr val="7FCBCD"/>
                </a:solidFill>
                <a:effectLst/>
                <a:latin typeface="Consolas" panose="020B0609020204030204" pitchFamily="49" charset="0"/>
              </a:rPr>
              <a:t>0</a:t>
            </a:r>
            <a:r>
              <a:rPr lang="en-IN" b="0" dirty="0">
                <a:solidFill>
                  <a:srgbClr val="DAE3E3"/>
                </a:solidFill>
                <a:effectLst/>
                <a:latin typeface="Consolas" panose="020B0609020204030204" pitchFamily="49" charset="0"/>
              </a:rPr>
              <a:t>;</a:t>
            </a:r>
          </a:p>
          <a:p>
            <a:pPr>
              <a:lnSpc>
                <a:spcPts val="1425"/>
              </a:lnSpc>
            </a:pPr>
            <a:r>
              <a:rPr lang="en-IN" b="0" dirty="0">
                <a:solidFill>
                  <a:srgbClr val="0CA1A6"/>
                </a:solidFill>
                <a:effectLst/>
                <a:latin typeface="Consolas" panose="020B0609020204030204" pitchFamily="49" charset="0"/>
              </a:rPr>
              <a:t>int</a:t>
            </a:r>
            <a:r>
              <a:rPr lang="en-IN" b="0" dirty="0">
                <a:solidFill>
                  <a:srgbClr val="DAE3E3"/>
                </a:solidFill>
                <a:effectLst/>
                <a:latin typeface="Consolas" panose="020B0609020204030204" pitchFamily="49" charset="0"/>
              </a:rPr>
              <a:t> signal2=</a:t>
            </a:r>
            <a:r>
              <a:rPr lang="en-IN" b="0" dirty="0">
                <a:solidFill>
                  <a:srgbClr val="7FCBCD"/>
                </a:solidFill>
                <a:effectLst/>
                <a:latin typeface="Consolas" panose="020B0609020204030204" pitchFamily="49" charset="0"/>
              </a:rPr>
              <a:t>0</a:t>
            </a:r>
            <a:r>
              <a:rPr lang="en-IN" b="0" dirty="0">
                <a:solidFill>
                  <a:srgbClr val="DAE3E3"/>
                </a:solidFill>
                <a:effectLst/>
                <a:latin typeface="Consolas" panose="020B0609020204030204" pitchFamily="49" charset="0"/>
              </a:rPr>
              <a:t>;</a:t>
            </a:r>
          </a:p>
          <a:p>
            <a:pPr>
              <a:lnSpc>
                <a:spcPts val="1425"/>
              </a:lnSpc>
            </a:pPr>
            <a:br>
              <a:rPr lang="en-IN" b="0" dirty="0">
                <a:solidFill>
                  <a:srgbClr val="DAE3E3"/>
                </a:solidFill>
                <a:effectLst/>
                <a:latin typeface="Consolas" panose="020B0609020204030204" pitchFamily="49" charset="0"/>
              </a:rPr>
            </a:br>
            <a:r>
              <a:rPr lang="en-IN" b="0" dirty="0">
                <a:solidFill>
                  <a:srgbClr val="0CA1A6"/>
                </a:solidFill>
                <a:effectLst/>
                <a:latin typeface="Consolas" panose="020B0609020204030204" pitchFamily="49" charset="0"/>
              </a:rPr>
              <a:t>void</a:t>
            </a:r>
            <a:r>
              <a:rPr lang="en-IN" b="0" dirty="0">
                <a:solidFill>
                  <a:srgbClr val="DAE3E3"/>
                </a:solidFill>
                <a:effectLst/>
                <a:latin typeface="Consolas" panose="020B0609020204030204" pitchFamily="49" charset="0"/>
              </a:rPr>
              <a:t> </a:t>
            </a:r>
            <a:r>
              <a:rPr lang="en-IN" b="0" dirty="0">
                <a:solidFill>
                  <a:srgbClr val="F39C12"/>
                </a:solidFill>
                <a:effectLst/>
                <a:latin typeface="Consolas" panose="020B0609020204030204" pitchFamily="49" charset="0"/>
              </a:rPr>
              <a:t>setup</a:t>
            </a:r>
            <a:r>
              <a:rPr lang="en-IN" b="0" dirty="0">
                <a:solidFill>
                  <a:srgbClr val="DAE3E3"/>
                </a:solidFill>
                <a:effectLst/>
                <a:latin typeface="Consolas" panose="020B0609020204030204" pitchFamily="49" charset="0"/>
              </a:rPr>
              <a:t>() {</a:t>
            </a:r>
          </a:p>
          <a:p>
            <a:pPr>
              <a:lnSpc>
                <a:spcPts val="1425"/>
              </a:lnSpc>
            </a:pPr>
            <a:r>
              <a:rPr lang="en-IN" b="0" dirty="0">
                <a:solidFill>
                  <a:srgbClr val="DAE3E3"/>
                </a:solidFill>
                <a:effectLst/>
                <a:latin typeface="Consolas" panose="020B0609020204030204" pitchFamily="49" charset="0"/>
              </a:rPr>
              <a:t>  </a:t>
            </a:r>
            <a:r>
              <a:rPr lang="en-IN" b="0" dirty="0" err="1">
                <a:solidFill>
                  <a:srgbClr val="F39C12"/>
                </a:solidFill>
                <a:effectLst/>
                <a:latin typeface="Consolas" panose="020B0609020204030204" pitchFamily="49" charset="0"/>
              </a:rPr>
              <a:t>serv</a:t>
            </a:r>
            <a:r>
              <a:rPr lang="en-IN" b="0" dirty="0" err="1">
                <a:solidFill>
                  <a:srgbClr val="DAE3E3"/>
                </a:solidFill>
                <a:effectLst/>
                <a:latin typeface="Consolas" panose="020B0609020204030204" pitchFamily="49" charset="0"/>
              </a:rPr>
              <a:t>.</a:t>
            </a:r>
            <a:r>
              <a:rPr lang="en-IN" b="0" dirty="0" err="1">
                <a:solidFill>
                  <a:srgbClr val="F39C12"/>
                </a:solidFill>
                <a:effectLst/>
                <a:latin typeface="Consolas" panose="020B0609020204030204" pitchFamily="49" charset="0"/>
              </a:rPr>
              <a:t>attach</a:t>
            </a:r>
            <a:r>
              <a:rPr lang="en-IN" b="0" dirty="0">
                <a:solidFill>
                  <a:srgbClr val="DAE3E3"/>
                </a:solidFill>
                <a:effectLst/>
                <a:latin typeface="Consolas" panose="020B0609020204030204" pitchFamily="49" charset="0"/>
              </a:rPr>
              <a:t>(</a:t>
            </a:r>
            <a:r>
              <a:rPr lang="en-IN" b="0" dirty="0" err="1">
                <a:solidFill>
                  <a:srgbClr val="DAE3E3"/>
                </a:solidFill>
                <a:effectLst/>
                <a:latin typeface="Consolas" panose="020B0609020204030204" pitchFamily="49" charset="0"/>
              </a:rPr>
              <a:t>servopin</a:t>
            </a:r>
            <a:r>
              <a:rPr lang="en-IN" b="0" dirty="0">
                <a:solidFill>
                  <a:srgbClr val="DAE3E3"/>
                </a:solidFill>
                <a:effectLst/>
                <a:latin typeface="Consolas" panose="020B0609020204030204" pitchFamily="49" charset="0"/>
              </a:rPr>
              <a:t>);</a:t>
            </a:r>
          </a:p>
          <a:p>
            <a:pPr>
              <a:lnSpc>
                <a:spcPts val="1425"/>
              </a:lnSpc>
            </a:pPr>
            <a:r>
              <a:rPr lang="en-IN" b="0" dirty="0">
                <a:solidFill>
                  <a:srgbClr val="DAE3E3"/>
                </a:solidFill>
                <a:effectLst/>
                <a:latin typeface="Consolas" panose="020B0609020204030204" pitchFamily="49" charset="0"/>
              </a:rPr>
              <a:t>  </a:t>
            </a:r>
            <a:r>
              <a:rPr lang="en-IN" b="0" dirty="0" err="1">
                <a:solidFill>
                  <a:srgbClr val="F39C12"/>
                </a:solidFill>
                <a:effectLst/>
                <a:latin typeface="Consolas" panose="020B0609020204030204" pitchFamily="49" charset="0"/>
              </a:rPr>
              <a:t>pinMode</a:t>
            </a:r>
            <a:r>
              <a:rPr lang="en-IN" b="0" dirty="0">
                <a:solidFill>
                  <a:srgbClr val="DAE3E3"/>
                </a:solidFill>
                <a:effectLst/>
                <a:latin typeface="Consolas" panose="020B0609020204030204" pitchFamily="49" charset="0"/>
              </a:rPr>
              <a:t>(A1,INPUT);</a:t>
            </a:r>
          </a:p>
          <a:p>
            <a:pPr>
              <a:lnSpc>
                <a:spcPts val="1425"/>
              </a:lnSpc>
            </a:pPr>
            <a:r>
              <a:rPr lang="en-IN" b="0" dirty="0">
                <a:solidFill>
                  <a:srgbClr val="DAE3E3"/>
                </a:solidFill>
                <a:effectLst/>
                <a:latin typeface="Consolas" panose="020B0609020204030204" pitchFamily="49" charset="0"/>
              </a:rPr>
              <a:t>  </a:t>
            </a:r>
            <a:r>
              <a:rPr lang="en-IN" b="0" dirty="0" err="1">
                <a:solidFill>
                  <a:srgbClr val="F39C12"/>
                </a:solidFill>
                <a:effectLst/>
                <a:latin typeface="Consolas" panose="020B0609020204030204" pitchFamily="49" charset="0"/>
              </a:rPr>
              <a:t>pinMode</a:t>
            </a:r>
            <a:r>
              <a:rPr lang="en-IN" b="0" dirty="0">
                <a:solidFill>
                  <a:srgbClr val="DAE3E3"/>
                </a:solidFill>
                <a:effectLst/>
                <a:latin typeface="Consolas" panose="020B0609020204030204" pitchFamily="49" charset="0"/>
              </a:rPr>
              <a:t>(A2,INPUT);</a:t>
            </a:r>
          </a:p>
          <a:p>
            <a:pPr>
              <a:lnSpc>
                <a:spcPts val="1425"/>
              </a:lnSpc>
            </a:pPr>
            <a:r>
              <a:rPr lang="en-IN" b="0" dirty="0">
                <a:solidFill>
                  <a:srgbClr val="DAE3E3"/>
                </a:solidFill>
                <a:effectLst/>
                <a:latin typeface="Consolas" panose="020B0609020204030204" pitchFamily="49" charset="0"/>
              </a:rPr>
              <a:t>}</a:t>
            </a:r>
          </a:p>
          <a:p>
            <a:pPr>
              <a:lnSpc>
                <a:spcPts val="1425"/>
              </a:lnSpc>
            </a:pPr>
            <a:br>
              <a:rPr lang="en-IN" b="0" dirty="0">
                <a:solidFill>
                  <a:srgbClr val="DAE3E3"/>
                </a:solidFill>
                <a:effectLst/>
                <a:latin typeface="Consolas" panose="020B0609020204030204" pitchFamily="49" charset="0"/>
              </a:rPr>
            </a:br>
            <a:r>
              <a:rPr lang="en-IN" b="0" dirty="0">
                <a:solidFill>
                  <a:srgbClr val="0CA1A6"/>
                </a:solidFill>
                <a:effectLst/>
                <a:latin typeface="Consolas" panose="020B0609020204030204" pitchFamily="49" charset="0"/>
              </a:rPr>
              <a:t>void</a:t>
            </a:r>
            <a:r>
              <a:rPr lang="en-IN" b="0" dirty="0">
                <a:solidFill>
                  <a:srgbClr val="DAE3E3"/>
                </a:solidFill>
                <a:effectLst/>
                <a:latin typeface="Consolas" panose="020B0609020204030204" pitchFamily="49" charset="0"/>
              </a:rPr>
              <a:t> </a:t>
            </a:r>
            <a:r>
              <a:rPr lang="en-IN" b="0" dirty="0">
                <a:solidFill>
                  <a:srgbClr val="F39C12"/>
                </a:solidFill>
                <a:effectLst/>
                <a:latin typeface="Consolas" panose="020B0609020204030204" pitchFamily="49" charset="0"/>
              </a:rPr>
              <a:t>loop</a:t>
            </a:r>
            <a:r>
              <a:rPr lang="en-IN" b="0" dirty="0">
                <a:solidFill>
                  <a:srgbClr val="DAE3E3"/>
                </a:solidFill>
                <a:effectLst/>
                <a:latin typeface="Consolas" panose="020B0609020204030204" pitchFamily="49" charset="0"/>
              </a:rPr>
              <a:t>() {</a:t>
            </a:r>
          </a:p>
          <a:p>
            <a:pPr>
              <a:lnSpc>
                <a:spcPts val="1425"/>
              </a:lnSpc>
            </a:pPr>
            <a:r>
              <a:rPr lang="en-IN" b="0" dirty="0">
                <a:solidFill>
                  <a:srgbClr val="DAE3E3"/>
                </a:solidFill>
                <a:effectLst/>
                <a:latin typeface="Consolas" panose="020B0609020204030204" pitchFamily="49" charset="0"/>
              </a:rPr>
              <a:t>  signal1=</a:t>
            </a:r>
            <a:r>
              <a:rPr lang="en-IN" b="0" dirty="0" err="1">
                <a:solidFill>
                  <a:srgbClr val="F39C12"/>
                </a:solidFill>
                <a:effectLst/>
                <a:latin typeface="Consolas" panose="020B0609020204030204" pitchFamily="49" charset="0"/>
              </a:rPr>
              <a:t>analogRead</a:t>
            </a:r>
            <a:r>
              <a:rPr lang="en-IN" b="0" dirty="0">
                <a:solidFill>
                  <a:srgbClr val="DAE3E3"/>
                </a:solidFill>
                <a:effectLst/>
                <a:latin typeface="Consolas" panose="020B0609020204030204" pitchFamily="49" charset="0"/>
              </a:rPr>
              <a:t>(A1);</a:t>
            </a:r>
          </a:p>
          <a:p>
            <a:pPr>
              <a:lnSpc>
                <a:spcPts val="1425"/>
              </a:lnSpc>
            </a:pPr>
            <a:r>
              <a:rPr lang="en-IN" b="0" dirty="0">
                <a:solidFill>
                  <a:srgbClr val="DAE3E3"/>
                </a:solidFill>
                <a:effectLst/>
                <a:latin typeface="Consolas" panose="020B0609020204030204" pitchFamily="49" charset="0"/>
              </a:rPr>
              <a:t>  signal2=</a:t>
            </a:r>
            <a:r>
              <a:rPr lang="en-IN" b="0" dirty="0" err="1">
                <a:solidFill>
                  <a:srgbClr val="F39C12"/>
                </a:solidFill>
                <a:effectLst/>
                <a:latin typeface="Consolas" panose="020B0609020204030204" pitchFamily="49" charset="0"/>
              </a:rPr>
              <a:t>analogRead</a:t>
            </a:r>
            <a:r>
              <a:rPr lang="en-IN" b="0" dirty="0">
                <a:solidFill>
                  <a:srgbClr val="DAE3E3"/>
                </a:solidFill>
                <a:effectLst/>
                <a:latin typeface="Consolas" panose="020B0609020204030204" pitchFamily="49" charset="0"/>
              </a:rPr>
              <a:t>(A2);</a:t>
            </a:r>
          </a:p>
          <a:p>
            <a:pPr>
              <a:lnSpc>
                <a:spcPts val="1425"/>
              </a:lnSpc>
            </a:pPr>
            <a:r>
              <a:rPr lang="en-IN" b="0" dirty="0">
                <a:solidFill>
                  <a:srgbClr val="DAE3E3"/>
                </a:solidFill>
                <a:effectLst/>
                <a:latin typeface="Consolas" panose="020B0609020204030204" pitchFamily="49" charset="0"/>
              </a:rPr>
              <a:t>  </a:t>
            </a:r>
            <a:r>
              <a:rPr lang="en-IN" b="0" dirty="0">
                <a:solidFill>
                  <a:srgbClr val="C586C0"/>
                </a:solidFill>
                <a:effectLst/>
                <a:latin typeface="Consolas" panose="020B0609020204030204" pitchFamily="49" charset="0"/>
              </a:rPr>
              <a:t>if</a:t>
            </a:r>
            <a:r>
              <a:rPr lang="en-IN" b="0" dirty="0">
                <a:solidFill>
                  <a:srgbClr val="DAE3E3"/>
                </a:solidFill>
                <a:effectLst/>
                <a:latin typeface="Consolas" panose="020B0609020204030204" pitchFamily="49" charset="0"/>
              </a:rPr>
              <a:t> (signal1&gt;</a:t>
            </a:r>
            <a:r>
              <a:rPr lang="en-IN" b="0" dirty="0">
                <a:solidFill>
                  <a:srgbClr val="7FCBCD"/>
                </a:solidFill>
                <a:effectLst/>
                <a:latin typeface="Consolas" panose="020B0609020204030204" pitchFamily="49" charset="0"/>
              </a:rPr>
              <a:t>300</a:t>
            </a:r>
            <a:r>
              <a:rPr lang="en-IN" b="0" dirty="0">
                <a:solidFill>
                  <a:srgbClr val="DAE3E3"/>
                </a:solidFill>
                <a:effectLst/>
                <a:latin typeface="Consolas" panose="020B0609020204030204" pitchFamily="49" charset="0"/>
              </a:rPr>
              <a:t> &amp;&amp; signal2&gt;</a:t>
            </a:r>
            <a:r>
              <a:rPr lang="en-IN" b="0" dirty="0">
                <a:solidFill>
                  <a:srgbClr val="7FCBCD"/>
                </a:solidFill>
                <a:effectLst/>
                <a:latin typeface="Consolas" panose="020B0609020204030204" pitchFamily="49" charset="0"/>
              </a:rPr>
              <a:t>300</a:t>
            </a:r>
            <a:r>
              <a:rPr lang="en-IN" b="0" dirty="0">
                <a:solidFill>
                  <a:srgbClr val="DAE3E3"/>
                </a:solidFill>
                <a:effectLst/>
                <a:latin typeface="Consolas" panose="020B0609020204030204" pitchFamily="49" charset="0"/>
              </a:rPr>
              <a:t>){</a:t>
            </a:r>
          </a:p>
          <a:p>
            <a:pPr>
              <a:lnSpc>
                <a:spcPts val="1425"/>
              </a:lnSpc>
            </a:pPr>
            <a:r>
              <a:rPr lang="en-IN" b="0" dirty="0">
                <a:solidFill>
                  <a:srgbClr val="DAE3E3"/>
                </a:solidFill>
                <a:effectLst/>
                <a:latin typeface="Consolas" panose="020B0609020204030204" pitchFamily="49" charset="0"/>
              </a:rPr>
              <a:t>    </a:t>
            </a:r>
            <a:r>
              <a:rPr lang="en-IN" b="0" dirty="0" err="1">
                <a:solidFill>
                  <a:srgbClr val="F39C12"/>
                </a:solidFill>
                <a:effectLst/>
                <a:latin typeface="Consolas" panose="020B0609020204030204" pitchFamily="49" charset="0"/>
              </a:rPr>
              <a:t>serv</a:t>
            </a:r>
            <a:r>
              <a:rPr lang="en-IN" b="0" dirty="0" err="1">
                <a:solidFill>
                  <a:srgbClr val="DAE3E3"/>
                </a:solidFill>
                <a:effectLst/>
                <a:latin typeface="Consolas" panose="020B0609020204030204" pitchFamily="49" charset="0"/>
              </a:rPr>
              <a:t>.</a:t>
            </a:r>
            <a:r>
              <a:rPr lang="en-IN" b="0" dirty="0" err="1">
                <a:solidFill>
                  <a:srgbClr val="F39C12"/>
                </a:solidFill>
                <a:effectLst/>
                <a:latin typeface="Consolas" panose="020B0609020204030204" pitchFamily="49" charset="0"/>
              </a:rPr>
              <a:t>write</a:t>
            </a:r>
            <a:r>
              <a:rPr lang="en-IN" b="0" dirty="0">
                <a:solidFill>
                  <a:srgbClr val="DAE3E3"/>
                </a:solidFill>
                <a:effectLst/>
                <a:latin typeface="Consolas" panose="020B0609020204030204" pitchFamily="49" charset="0"/>
              </a:rPr>
              <a:t>(</a:t>
            </a:r>
            <a:r>
              <a:rPr lang="en-IN" b="0" dirty="0">
                <a:solidFill>
                  <a:srgbClr val="7FCBCD"/>
                </a:solidFill>
                <a:effectLst/>
                <a:latin typeface="Consolas" panose="020B0609020204030204" pitchFamily="49" charset="0"/>
              </a:rPr>
              <a:t>90</a:t>
            </a:r>
            <a:r>
              <a:rPr lang="en-IN" b="0" dirty="0">
                <a:solidFill>
                  <a:srgbClr val="DAE3E3"/>
                </a:solidFill>
                <a:effectLst/>
                <a:latin typeface="Consolas" panose="020B0609020204030204" pitchFamily="49" charset="0"/>
              </a:rPr>
              <a:t>);</a:t>
            </a:r>
          </a:p>
          <a:p>
            <a:pPr>
              <a:lnSpc>
                <a:spcPts val="1425"/>
              </a:lnSpc>
            </a:pPr>
            <a:r>
              <a:rPr lang="en-IN" b="0" dirty="0">
                <a:solidFill>
                  <a:srgbClr val="DAE3E3"/>
                </a:solidFill>
                <a:effectLst/>
                <a:latin typeface="Consolas" panose="020B0609020204030204" pitchFamily="49" charset="0"/>
              </a:rPr>
              <a:t>  }</a:t>
            </a:r>
          </a:p>
          <a:p>
            <a:pPr>
              <a:lnSpc>
                <a:spcPts val="1425"/>
              </a:lnSpc>
            </a:pPr>
            <a:r>
              <a:rPr lang="en-IN" b="0" dirty="0">
                <a:solidFill>
                  <a:srgbClr val="DAE3E3"/>
                </a:solidFill>
                <a:effectLst/>
                <a:latin typeface="Consolas" panose="020B0609020204030204" pitchFamily="49" charset="0"/>
              </a:rPr>
              <a:t>  </a:t>
            </a:r>
            <a:r>
              <a:rPr lang="en-IN" b="0" dirty="0">
                <a:solidFill>
                  <a:srgbClr val="C586C0"/>
                </a:solidFill>
                <a:effectLst/>
                <a:latin typeface="Consolas" panose="020B0609020204030204" pitchFamily="49" charset="0"/>
              </a:rPr>
              <a:t>else</a:t>
            </a:r>
            <a:r>
              <a:rPr lang="en-IN" b="0" dirty="0">
                <a:solidFill>
                  <a:srgbClr val="DAE3E3"/>
                </a:solidFill>
                <a:effectLst/>
                <a:latin typeface="Consolas" panose="020B0609020204030204" pitchFamily="49" charset="0"/>
              </a:rPr>
              <a:t>{</a:t>
            </a:r>
          </a:p>
          <a:p>
            <a:pPr>
              <a:lnSpc>
                <a:spcPts val="1425"/>
              </a:lnSpc>
            </a:pPr>
            <a:r>
              <a:rPr lang="en-IN" b="0" dirty="0">
                <a:solidFill>
                  <a:srgbClr val="DAE3E3"/>
                </a:solidFill>
                <a:effectLst/>
                <a:latin typeface="Consolas" panose="020B0609020204030204" pitchFamily="49" charset="0"/>
              </a:rPr>
              <a:t>    </a:t>
            </a:r>
            <a:r>
              <a:rPr lang="en-IN" b="0" dirty="0" err="1">
                <a:solidFill>
                  <a:srgbClr val="F39C12"/>
                </a:solidFill>
                <a:effectLst/>
                <a:latin typeface="Consolas" panose="020B0609020204030204" pitchFamily="49" charset="0"/>
              </a:rPr>
              <a:t>serv</a:t>
            </a:r>
            <a:r>
              <a:rPr lang="en-IN" b="0" dirty="0" err="1">
                <a:solidFill>
                  <a:srgbClr val="DAE3E3"/>
                </a:solidFill>
                <a:effectLst/>
                <a:latin typeface="Consolas" panose="020B0609020204030204" pitchFamily="49" charset="0"/>
              </a:rPr>
              <a:t>.</a:t>
            </a:r>
            <a:r>
              <a:rPr lang="en-IN" b="0" dirty="0" err="1">
                <a:solidFill>
                  <a:srgbClr val="F39C12"/>
                </a:solidFill>
                <a:effectLst/>
                <a:latin typeface="Consolas" panose="020B0609020204030204" pitchFamily="49" charset="0"/>
              </a:rPr>
              <a:t>write</a:t>
            </a:r>
            <a:r>
              <a:rPr lang="en-IN" b="0" dirty="0">
                <a:solidFill>
                  <a:srgbClr val="DAE3E3"/>
                </a:solidFill>
                <a:effectLst/>
                <a:latin typeface="Consolas" panose="020B0609020204030204" pitchFamily="49" charset="0"/>
              </a:rPr>
              <a:t>(</a:t>
            </a:r>
            <a:r>
              <a:rPr lang="en-IN" b="0" dirty="0">
                <a:solidFill>
                  <a:srgbClr val="7FCBCD"/>
                </a:solidFill>
                <a:effectLst/>
                <a:latin typeface="Consolas" panose="020B0609020204030204" pitchFamily="49" charset="0"/>
              </a:rPr>
              <a:t>0</a:t>
            </a:r>
            <a:r>
              <a:rPr lang="en-IN" b="0" dirty="0">
                <a:solidFill>
                  <a:srgbClr val="DAE3E3"/>
                </a:solidFill>
                <a:effectLst/>
                <a:latin typeface="Consolas" panose="020B0609020204030204" pitchFamily="49" charset="0"/>
              </a:rPr>
              <a:t>);</a:t>
            </a:r>
          </a:p>
          <a:p>
            <a:pPr>
              <a:lnSpc>
                <a:spcPts val="1425"/>
              </a:lnSpc>
            </a:pPr>
            <a:r>
              <a:rPr lang="en-IN" b="0" dirty="0">
                <a:solidFill>
                  <a:srgbClr val="DAE3E3"/>
                </a:solidFill>
                <a:effectLst/>
                <a:latin typeface="Consolas" panose="020B0609020204030204" pitchFamily="49" charset="0"/>
              </a:rPr>
              <a:t>}</a:t>
            </a:r>
          </a:p>
          <a:p>
            <a:pPr>
              <a:lnSpc>
                <a:spcPts val="1425"/>
              </a:lnSpc>
            </a:pPr>
            <a:r>
              <a:rPr lang="en-IN" b="0" dirty="0">
                <a:solidFill>
                  <a:srgbClr val="DAE3E3"/>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FB21F8A0-C14E-A970-E0FB-27EC7E4987B3}"/>
              </a:ext>
            </a:extLst>
          </p:cNvPr>
          <p:cNvSpPr txBox="1"/>
          <p:nvPr/>
        </p:nvSpPr>
        <p:spPr>
          <a:xfrm>
            <a:off x="1002074" y="476655"/>
            <a:ext cx="3453194" cy="584775"/>
          </a:xfrm>
          <a:prstGeom prst="rect">
            <a:avLst/>
          </a:prstGeom>
          <a:noFill/>
        </p:spPr>
        <p:txBody>
          <a:bodyPr wrap="square" rtlCol="0">
            <a:spAutoFit/>
          </a:bodyPr>
          <a:lstStyle/>
          <a:p>
            <a:r>
              <a:rPr lang="en-US" sz="3200" b="1" i="1" dirty="0">
                <a:solidFill>
                  <a:srgbClr val="ACD433"/>
                </a:solidFill>
              </a:rPr>
              <a:t>CODE:</a:t>
            </a:r>
            <a:endParaRPr lang="en-IN" sz="3200" b="1" i="1" dirty="0">
              <a:solidFill>
                <a:srgbClr val="ACD433"/>
              </a:solidFill>
            </a:endParaRPr>
          </a:p>
        </p:txBody>
      </p:sp>
    </p:spTree>
    <p:extLst>
      <p:ext uri="{BB962C8B-B14F-4D97-AF65-F5344CB8AC3E}">
        <p14:creationId xmlns:p14="http://schemas.microsoft.com/office/powerpoint/2010/main" val="3142009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BC477-D3C1-A54B-E6BE-C119A4CD089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E06659E-09E3-B0ED-0014-09407247913C}"/>
              </a:ext>
            </a:extLst>
          </p:cNvPr>
          <p:cNvSpPr txBox="1"/>
          <p:nvPr/>
        </p:nvSpPr>
        <p:spPr>
          <a:xfrm>
            <a:off x="1047345" y="1424545"/>
            <a:ext cx="8618706" cy="4401205"/>
          </a:xfrm>
          <a:prstGeom prst="rect">
            <a:avLst/>
          </a:prstGeom>
          <a:noFill/>
        </p:spPr>
        <p:txBody>
          <a:bodyPr wrap="square">
            <a:spAutoFit/>
          </a:bodyPr>
          <a:lstStyle/>
          <a:p>
            <a:pPr algn="just"/>
            <a:r>
              <a:rPr lang="en-US" sz="2000" dirty="0">
                <a:latin typeface="+mj-lt"/>
              </a:rPr>
              <a:t>Though this prototype is simple to build and highly reliable but there're some obstacles too . Rather than a train if an animal or other object is placed in front of the IR sensor and the gate will be closed which is not desirable at all. Also other natural obstacles like fog may arise problems. There're also a scope of alerting the nearest railway station about arrival and departure of the train. The problems indicated above can be overcome by adding some extra modules .Like we left the GSM module for future scope. After adding this module, upon arrival and departure of train, the GSM module will send an SMS to registered phone number for acknowledgement and safety. Also adding a pair of pressure sensor increases the chance of fault triggering of gate as well as alarm. After adding the pressure sensor, the Arduino closes the gate after receiving both signal from IR sensor as well as pressure sensor.</a:t>
            </a:r>
            <a:endParaRPr lang="en-IN" sz="2000" dirty="0">
              <a:latin typeface="+mj-lt"/>
            </a:endParaRPr>
          </a:p>
        </p:txBody>
      </p:sp>
      <p:sp>
        <p:nvSpPr>
          <p:cNvPr id="10" name="TextBox 9">
            <a:extLst>
              <a:ext uri="{FF2B5EF4-FFF2-40B4-BE49-F238E27FC236}">
                <a16:creationId xmlns:a16="http://schemas.microsoft.com/office/drawing/2014/main" id="{7BBE3720-A557-98CB-0D51-DFD78C11CE3B}"/>
              </a:ext>
            </a:extLst>
          </p:cNvPr>
          <p:cNvSpPr txBox="1"/>
          <p:nvPr/>
        </p:nvSpPr>
        <p:spPr>
          <a:xfrm>
            <a:off x="758757" y="446837"/>
            <a:ext cx="5671225" cy="646331"/>
          </a:xfrm>
          <a:prstGeom prst="rect">
            <a:avLst/>
          </a:prstGeom>
          <a:noFill/>
        </p:spPr>
        <p:txBody>
          <a:bodyPr wrap="square" rtlCol="0">
            <a:spAutoFit/>
          </a:bodyPr>
          <a:lstStyle/>
          <a:p>
            <a:r>
              <a:rPr lang="en-US" sz="3600" b="1" i="1" u="sng" dirty="0">
                <a:solidFill>
                  <a:schemeClr val="accent1"/>
                </a:solidFill>
              </a:rPr>
              <a:t>PROBLEMS</a:t>
            </a:r>
            <a:endParaRPr lang="en-IN" sz="3600" b="1" i="1" u="sng" dirty="0">
              <a:solidFill>
                <a:schemeClr val="accent1"/>
              </a:solidFill>
            </a:endParaRPr>
          </a:p>
        </p:txBody>
      </p:sp>
    </p:spTree>
    <p:extLst>
      <p:ext uri="{BB962C8B-B14F-4D97-AF65-F5344CB8AC3E}">
        <p14:creationId xmlns:p14="http://schemas.microsoft.com/office/powerpoint/2010/main" val="4257567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811AD-238B-AD1F-4E40-442C757BDD81}"/>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D23EEEB1-3842-E5F1-0481-AB5D21B417FF}"/>
              </a:ext>
            </a:extLst>
          </p:cNvPr>
          <p:cNvSpPr txBox="1"/>
          <p:nvPr/>
        </p:nvSpPr>
        <p:spPr>
          <a:xfrm>
            <a:off x="758757" y="446837"/>
            <a:ext cx="5671225" cy="646331"/>
          </a:xfrm>
          <a:prstGeom prst="rect">
            <a:avLst/>
          </a:prstGeom>
          <a:noFill/>
        </p:spPr>
        <p:txBody>
          <a:bodyPr wrap="square" rtlCol="0">
            <a:spAutoFit/>
          </a:bodyPr>
          <a:lstStyle/>
          <a:p>
            <a:r>
              <a:rPr lang="en-US" sz="3600" b="1" i="1" u="sng" dirty="0">
                <a:solidFill>
                  <a:schemeClr val="accent1"/>
                </a:solidFill>
              </a:rPr>
              <a:t>FUTURE SCOPE</a:t>
            </a:r>
            <a:endParaRPr lang="en-IN" sz="3600" b="1" i="1" u="sng" dirty="0">
              <a:solidFill>
                <a:schemeClr val="accent1"/>
              </a:solidFill>
            </a:endParaRPr>
          </a:p>
        </p:txBody>
      </p:sp>
      <p:sp>
        <p:nvSpPr>
          <p:cNvPr id="7" name="TextBox 6">
            <a:extLst>
              <a:ext uri="{FF2B5EF4-FFF2-40B4-BE49-F238E27FC236}">
                <a16:creationId xmlns:a16="http://schemas.microsoft.com/office/drawing/2014/main" id="{A1CB088D-6FFA-B97F-5958-C2725046B353}"/>
              </a:ext>
            </a:extLst>
          </p:cNvPr>
          <p:cNvSpPr txBox="1"/>
          <p:nvPr/>
        </p:nvSpPr>
        <p:spPr>
          <a:xfrm>
            <a:off x="536895" y="1325461"/>
            <a:ext cx="11174136" cy="2031325"/>
          </a:xfrm>
          <a:prstGeom prst="rect">
            <a:avLst/>
          </a:prstGeom>
          <a:noFill/>
        </p:spPr>
        <p:txBody>
          <a:bodyPr wrap="square" rtlCol="0">
            <a:spAutoFit/>
          </a:bodyPr>
          <a:lstStyle/>
          <a:p>
            <a:r>
              <a:rPr lang="en-US" b="1" dirty="0"/>
              <a:t>Increased Safety and Reliability</a:t>
            </a:r>
          </a:p>
          <a:p>
            <a:pPr>
              <a:buFont typeface="Arial" panose="020B0604020202020204" pitchFamily="34" charset="0"/>
              <a:buChar char="•"/>
            </a:pPr>
            <a:r>
              <a:rPr lang="en-US" b="1" dirty="0"/>
              <a:t>Obstacle Detection</a:t>
            </a:r>
            <a:r>
              <a:rPr lang="en-US" dirty="0"/>
              <a:t>: Add ultrasonic or LiDAR sensors to detect any obstacles on the railway tracks or at the gate before closing.</a:t>
            </a:r>
          </a:p>
          <a:p>
            <a:pPr>
              <a:buFont typeface="Arial" panose="020B0604020202020204" pitchFamily="34" charset="0"/>
              <a:buChar char="•"/>
            </a:pPr>
            <a:r>
              <a:rPr lang="en-US" b="1" dirty="0"/>
              <a:t>Redundant Systems</a:t>
            </a:r>
            <a:r>
              <a:rPr lang="en-US" dirty="0"/>
              <a:t>: Implement redundancy by using multiple IR sensors or backup systems to ensure reliability even in case of sensor failure.</a:t>
            </a:r>
          </a:p>
          <a:p>
            <a:pPr>
              <a:buFont typeface="Arial" panose="020B0604020202020204" pitchFamily="34" charset="0"/>
              <a:buChar char="•"/>
            </a:pPr>
            <a:r>
              <a:rPr lang="en-US" b="1" dirty="0"/>
              <a:t>Fail-Safe Mechanism</a:t>
            </a:r>
            <a:r>
              <a:rPr lang="en-US" dirty="0"/>
              <a:t>: Design a fail-safe mechanism to keep the gates open during power or system failures.</a:t>
            </a:r>
          </a:p>
        </p:txBody>
      </p:sp>
      <p:sp>
        <p:nvSpPr>
          <p:cNvPr id="14" name="TextBox 13">
            <a:extLst>
              <a:ext uri="{FF2B5EF4-FFF2-40B4-BE49-F238E27FC236}">
                <a16:creationId xmlns:a16="http://schemas.microsoft.com/office/drawing/2014/main" id="{B4347E4D-B35A-3654-B05B-A8E8CA1A85DD}"/>
              </a:ext>
            </a:extLst>
          </p:cNvPr>
          <p:cNvSpPr txBox="1"/>
          <p:nvPr/>
        </p:nvSpPr>
        <p:spPr>
          <a:xfrm>
            <a:off x="536895" y="3356786"/>
            <a:ext cx="10440546" cy="2308324"/>
          </a:xfrm>
          <a:prstGeom prst="rect">
            <a:avLst/>
          </a:prstGeom>
          <a:noFill/>
        </p:spPr>
        <p:txBody>
          <a:bodyPr wrap="square" rtlCol="0">
            <a:spAutoFit/>
          </a:bodyPr>
          <a:lstStyle/>
          <a:p>
            <a:r>
              <a:rPr lang="en-US" b="1" dirty="0"/>
              <a:t>Integration with Smart Systems</a:t>
            </a:r>
          </a:p>
          <a:p>
            <a:pPr>
              <a:buFont typeface="Arial" panose="020B0604020202020204" pitchFamily="34" charset="0"/>
              <a:buChar char="•"/>
            </a:pPr>
            <a:r>
              <a:rPr lang="en-US" b="1" dirty="0"/>
              <a:t>IoT Integration</a:t>
            </a:r>
            <a:r>
              <a:rPr lang="en-US" dirty="0"/>
              <a:t>: Use an IoT module (like ESP8266 or ESP32) to connect the system to the internet for real-time monitoring and control.</a:t>
            </a:r>
          </a:p>
          <a:p>
            <a:pPr>
              <a:buFont typeface="Arial" panose="020B0604020202020204" pitchFamily="34" charset="0"/>
              <a:buChar char="•"/>
            </a:pPr>
            <a:r>
              <a:rPr lang="en-US" b="1" dirty="0"/>
              <a:t>Centralized Monitoring</a:t>
            </a:r>
            <a:r>
              <a:rPr lang="en-US" dirty="0"/>
              <a:t>: Integrate with a central control room for monitoring multiple crossings and remotely handling emergencies.</a:t>
            </a:r>
          </a:p>
          <a:p>
            <a:pPr>
              <a:buFont typeface="Arial" panose="020B0604020202020204" pitchFamily="34" charset="0"/>
              <a:buChar char="•"/>
            </a:pPr>
            <a:r>
              <a:rPr lang="en-US" b="1" dirty="0"/>
              <a:t>SMS or App Alerts</a:t>
            </a:r>
            <a:r>
              <a:rPr lang="en-US" dirty="0"/>
              <a:t>: Notify nearby vehicles or pedestrians through SMS or a mobile app when the gate is about to close or open.</a:t>
            </a:r>
          </a:p>
          <a:p>
            <a:endParaRPr lang="en-IN" dirty="0"/>
          </a:p>
        </p:txBody>
      </p:sp>
    </p:spTree>
    <p:extLst>
      <p:ext uri="{BB962C8B-B14F-4D97-AF65-F5344CB8AC3E}">
        <p14:creationId xmlns:p14="http://schemas.microsoft.com/office/powerpoint/2010/main" val="2240592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CE0C2-38F4-D4FF-1164-AAD8E512433A}"/>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26A2C2D1-4310-C654-08BC-C19BD328726D}"/>
              </a:ext>
            </a:extLst>
          </p:cNvPr>
          <p:cNvSpPr txBox="1"/>
          <p:nvPr/>
        </p:nvSpPr>
        <p:spPr>
          <a:xfrm>
            <a:off x="758757" y="446837"/>
            <a:ext cx="5671225" cy="646331"/>
          </a:xfrm>
          <a:prstGeom prst="rect">
            <a:avLst/>
          </a:prstGeom>
          <a:noFill/>
        </p:spPr>
        <p:txBody>
          <a:bodyPr wrap="square" rtlCol="0">
            <a:spAutoFit/>
          </a:bodyPr>
          <a:lstStyle/>
          <a:p>
            <a:r>
              <a:rPr lang="en-US" sz="3600" b="1" i="1" u="sng" dirty="0">
                <a:solidFill>
                  <a:schemeClr val="accent1"/>
                </a:solidFill>
              </a:rPr>
              <a:t>FUTURE SCOPE</a:t>
            </a:r>
            <a:endParaRPr lang="en-IN" sz="3600" b="1" i="1" u="sng" dirty="0">
              <a:solidFill>
                <a:schemeClr val="accent1"/>
              </a:solidFill>
            </a:endParaRPr>
          </a:p>
        </p:txBody>
      </p:sp>
      <p:sp>
        <p:nvSpPr>
          <p:cNvPr id="7" name="TextBox 6">
            <a:extLst>
              <a:ext uri="{FF2B5EF4-FFF2-40B4-BE49-F238E27FC236}">
                <a16:creationId xmlns:a16="http://schemas.microsoft.com/office/drawing/2014/main" id="{60B6A629-DD83-18A8-2018-6E78A8B404D3}"/>
              </a:ext>
            </a:extLst>
          </p:cNvPr>
          <p:cNvSpPr txBox="1"/>
          <p:nvPr/>
        </p:nvSpPr>
        <p:spPr>
          <a:xfrm>
            <a:off x="536895" y="1325461"/>
            <a:ext cx="11174136" cy="1477328"/>
          </a:xfrm>
          <a:prstGeom prst="rect">
            <a:avLst/>
          </a:prstGeom>
          <a:noFill/>
        </p:spPr>
        <p:txBody>
          <a:bodyPr wrap="square" rtlCol="0">
            <a:spAutoFit/>
          </a:bodyPr>
          <a:lstStyle/>
          <a:p>
            <a:r>
              <a:rPr lang="en-US" b="1" dirty="0"/>
              <a:t>Enhanced Detection Systems</a:t>
            </a:r>
          </a:p>
          <a:p>
            <a:pPr>
              <a:buFont typeface="Arial" panose="020B0604020202020204" pitchFamily="34" charset="0"/>
              <a:buChar char="•"/>
            </a:pPr>
            <a:r>
              <a:rPr lang="en-US" b="1" dirty="0"/>
              <a:t>Train Detection</a:t>
            </a:r>
            <a:r>
              <a:rPr lang="en-US" dirty="0"/>
              <a:t>: Use GPS or RFID technology to detect the train's position and speed for precise gate operation timing.</a:t>
            </a:r>
          </a:p>
          <a:p>
            <a:pPr>
              <a:buFont typeface="Arial" panose="020B0604020202020204" pitchFamily="34" charset="0"/>
              <a:buChar char="•"/>
            </a:pPr>
            <a:r>
              <a:rPr lang="en-US" b="1" dirty="0"/>
              <a:t>Multiple Sensors</a:t>
            </a:r>
            <a:r>
              <a:rPr lang="en-US" dirty="0"/>
              <a:t>: Employ a combination of IR, pressure, and acoustic sensors to accurately detect trains and avoid false triggers.</a:t>
            </a:r>
          </a:p>
        </p:txBody>
      </p:sp>
      <p:sp>
        <p:nvSpPr>
          <p:cNvPr id="14" name="TextBox 13">
            <a:extLst>
              <a:ext uri="{FF2B5EF4-FFF2-40B4-BE49-F238E27FC236}">
                <a16:creationId xmlns:a16="http://schemas.microsoft.com/office/drawing/2014/main" id="{585F838E-4C33-9D7E-D689-F0C74576E882}"/>
              </a:ext>
            </a:extLst>
          </p:cNvPr>
          <p:cNvSpPr txBox="1"/>
          <p:nvPr/>
        </p:nvSpPr>
        <p:spPr>
          <a:xfrm>
            <a:off x="536895" y="3035082"/>
            <a:ext cx="10440546" cy="3416320"/>
          </a:xfrm>
          <a:prstGeom prst="rect">
            <a:avLst/>
          </a:prstGeom>
          <a:noFill/>
        </p:spPr>
        <p:txBody>
          <a:bodyPr wrap="square" rtlCol="0">
            <a:spAutoFit/>
          </a:bodyPr>
          <a:lstStyle/>
          <a:p>
            <a:r>
              <a:rPr lang="en-US" b="1" dirty="0"/>
              <a:t>Energy Efficiency</a:t>
            </a:r>
          </a:p>
          <a:p>
            <a:pPr>
              <a:buFont typeface="Arial" panose="020B0604020202020204" pitchFamily="34" charset="0"/>
              <a:buChar char="•"/>
            </a:pPr>
            <a:r>
              <a:rPr lang="en-US" b="1" dirty="0"/>
              <a:t>Solar Power</a:t>
            </a:r>
            <a:r>
              <a:rPr lang="en-US" dirty="0"/>
              <a:t>: Use solar panels to power the system, making it sustainable and suitable for remote areas without reliable electricity.</a:t>
            </a:r>
          </a:p>
          <a:p>
            <a:pPr>
              <a:buFont typeface="Arial" panose="020B0604020202020204" pitchFamily="34" charset="0"/>
              <a:buChar char="•"/>
            </a:pPr>
            <a:r>
              <a:rPr lang="en-US" b="1" dirty="0"/>
              <a:t>Low-Power Devices</a:t>
            </a:r>
            <a:r>
              <a:rPr lang="en-US" dirty="0"/>
              <a:t>: Optimize the design with low-power components to reduce energy consumption.</a:t>
            </a:r>
          </a:p>
          <a:p>
            <a:endParaRPr lang="en-IN" dirty="0"/>
          </a:p>
          <a:p>
            <a:r>
              <a:rPr lang="en-US" b="1" dirty="0"/>
              <a:t>Advanced Communication Protocols</a:t>
            </a:r>
          </a:p>
          <a:p>
            <a:pPr>
              <a:buFont typeface="Arial" panose="020B0604020202020204" pitchFamily="34" charset="0"/>
              <a:buChar char="•"/>
            </a:pPr>
            <a:r>
              <a:rPr lang="en-US" b="1" dirty="0"/>
              <a:t>V2X Communication</a:t>
            </a:r>
            <a:r>
              <a:rPr lang="en-US" dirty="0"/>
              <a:t>: Implement Vehicle-to-Everything (V2X) communication for early warning signals to approaching vehicles.</a:t>
            </a:r>
          </a:p>
          <a:p>
            <a:pPr>
              <a:buFont typeface="Arial" panose="020B0604020202020204" pitchFamily="34" charset="0"/>
              <a:buChar char="•"/>
            </a:pPr>
            <a:r>
              <a:rPr lang="en-US" b="1" dirty="0"/>
              <a:t>Railway Signal Integration</a:t>
            </a:r>
            <a:r>
              <a:rPr lang="en-US" dirty="0"/>
              <a:t>: Synchronize with railway signaling systems to improve operational accuracy.</a:t>
            </a:r>
          </a:p>
          <a:p>
            <a:endParaRPr lang="en-IN" dirty="0"/>
          </a:p>
        </p:txBody>
      </p:sp>
    </p:spTree>
    <p:extLst>
      <p:ext uri="{BB962C8B-B14F-4D97-AF65-F5344CB8AC3E}">
        <p14:creationId xmlns:p14="http://schemas.microsoft.com/office/powerpoint/2010/main" val="98018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4EAFD-331E-ACDD-3085-98F9C37A23C6}"/>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107623A6-D3F4-4516-8886-F6EF3FC8F060}"/>
              </a:ext>
            </a:extLst>
          </p:cNvPr>
          <p:cNvSpPr txBox="1"/>
          <p:nvPr/>
        </p:nvSpPr>
        <p:spPr>
          <a:xfrm>
            <a:off x="536895" y="448298"/>
            <a:ext cx="5671225" cy="646331"/>
          </a:xfrm>
          <a:prstGeom prst="rect">
            <a:avLst/>
          </a:prstGeom>
          <a:noFill/>
        </p:spPr>
        <p:txBody>
          <a:bodyPr wrap="square" rtlCol="0">
            <a:spAutoFit/>
          </a:bodyPr>
          <a:lstStyle/>
          <a:p>
            <a:r>
              <a:rPr lang="en-US" sz="3600" b="1" i="1" u="sng" dirty="0">
                <a:solidFill>
                  <a:schemeClr val="accent1"/>
                </a:solidFill>
              </a:rPr>
              <a:t>FUTURE SCOPE</a:t>
            </a:r>
            <a:endParaRPr lang="en-IN" sz="3600" b="1" i="1" u="sng" dirty="0">
              <a:solidFill>
                <a:schemeClr val="accent1"/>
              </a:solidFill>
            </a:endParaRPr>
          </a:p>
        </p:txBody>
      </p:sp>
      <p:sp>
        <p:nvSpPr>
          <p:cNvPr id="7" name="TextBox 6">
            <a:extLst>
              <a:ext uri="{FF2B5EF4-FFF2-40B4-BE49-F238E27FC236}">
                <a16:creationId xmlns:a16="http://schemas.microsoft.com/office/drawing/2014/main" id="{01CB5D61-5EBA-5AFB-35E0-F1F280BCFA61}"/>
              </a:ext>
            </a:extLst>
          </p:cNvPr>
          <p:cNvSpPr txBox="1"/>
          <p:nvPr/>
        </p:nvSpPr>
        <p:spPr>
          <a:xfrm>
            <a:off x="536895" y="1325461"/>
            <a:ext cx="11174136" cy="1477328"/>
          </a:xfrm>
          <a:prstGeom prst="rect">
            <a:avLst/>
          </a:prstGeom>
          <a:noFill/>
        </p:spPr>
        <p:txBody>
          <a:bodyPr wrap="square" rtlCol="0">
            <a:spAutoFit/>
          </a:bodyPr>
          <a:lstStyle/>
          <a:p>
            <a:r>
              <a:rPr lang="en-US" b="1" dirty="0"/>
              <a:t>Automation and AI</a:t>
            </a:r>
          </a:p>
          <a:p>
            <a:pPr>
              <a:buFont typeface="Arial" panose="020B0604020202020204" pitchFamily="34" charset="0"/>
              <a:buChar char="•"/>
            </a:pPr>
            <a:r>
              <a:rPr lang="en-US" b="1" dirty="0"/>
              <a:t>Machine Learning</a:t>
            </a:r>
            <a:r>
              <a:rPr lang="en-US" dirty="0"/>
              <a:t>: Train the system to recognize patterns, such as abnormal train delays or unexpected obstacles, for predictive maintenance.</a:t>
            </a:r>
          </a:p>
          <a:p>
            <a:pPr>
              <a:buFont typeface="Arial" panose="020B0604020202020204" pitchFamily="34" charset="0"/>
              <a:buChar char="•"/>
            </a:pPr>
            <a:r>
              <a:rPr lang="en-US" b="1" dirty="0"/>
              <a:t>Camera-Based Systems</a:t>
            </a:r>
            <a:r>
              <a:rPr lang="en-US" dirty="0"/>
              <a:t>: Add a camera with AI-powered image recognition to detect and classify objects near the crossing.</a:t>
            </a:r>
          </a:p>
        </p:txBody>
      </p:sp>
      <p:sp>
        <p:nvSpPr>
          <p:cNvPr id="14" name="TextBox 13">
            <a:extLst>
              <a:ext uri="{FF2B5EF4-FFF2-40B4-BE49-F238E27FC236}">
                <a16:creationId xmlns:a16="http://schemas.microsoft.com/office/drawing/2014/main" id="{D5947A79-3D4B-7B24-3A25-B88DB8A9EC86}"/>
              </a:ext>
            </a:extLst>
          </p:cNvPr>
          <p:cNvSpPr txBox="1"/>
          <p:nvPr/>
        </p:nvSpPr>
        <p:spPr>
          <a:xfrm>
            <a:off x="536895" y="3356786"/>
            <a:ext cx="10440546" cy="3139321"/>
          </a:xfrm>
          <a:prstGeom prst="rect">
            <a:avLst/>
          </a:prstGeom>
          <a:noFill/>
        </p:spPr>
        <p:txBody>
          <a:bodyPr wrap="square" rtlCol="0">
            <a:spAutoFit/>
          </a:bodyPr>
          <a:lstStyle/>
          <a:p>
            <a:r>
              <a:rPr lang="en-US" b="1" dirty="0"/>
              <a:t>User-Friendly Features</a:t>
            </a:r>
          </a:p>
          <a:p>
            <a:pPr>
              <a:buFont typeface="Arial" panose="020B0604020202020204" pitchFamily="34" charset="0"/>
              <a:buChar char="•"/>
            </a:pPr>
            <a:r>
              <a:rPr lang="en-US" b="1" dirty="0"/>
              <a:t>Audible Alerts</a:t>
            </a:r>
            <a:r>
              <a:rPr lang="en-US" dirty="0"/>
              <a:t>: Add sirens or voice alerts for enhanced safety.</a:t>
            </a:r>
          </a:p>
          <a:p>
            <a:pPr>
              <a:buFont typeface="Arial" panose="020B0604020202020204" pitchFamily="34" charset="0"/>
              <a:buChar char="•"/>
            </a:pPr>
            <a:r>
              <a:rPr lang="en-US" b="1" dirty="0"/>
              <a:t>LED Indicators</a:t>
            </a:r>
            <a:r>
              <a:rPr lang="en-US" dirty="0"/>
              <a:t>: Use LED panels to display messages like "Gate Closing" or "Train Approaching."</a:t>
            </a:r>
          </a:p>
          <a:p>
            <a:endParaRPr lang="en-US" dirty="0"/>
          </a:p>
          <a:p>
            <a:r>
              <a:rPr lang="en-US" b="1" dirty="0"/>
              <a:t>Scalability</a:t>
            </a:r>
          </a:p>
          <a:p>
            <a:pPr>
              <a:buFont typeface="Arial" panose="020B0604020202020204" pitchFamily="34" charset="0"/>
              <a:buChar char="•"/>
            </a:pPr>
            <a:r>
              <a:rPr lang="en-US" b="1" dirty="0"/>
              <a:t>Multi-Gate Systems</a:t>
            </a:r>
            <a:r>
              <a:rPr lang="en-US" dirty="0"/>
              <a:t>: Design a system capable of managing multiple gates for wider crossings or junctions.</a:t>
            </a:r>
          </a:p>
          <a:p>
            <a:pPr>
              <a:buFont typeface="Arial" panose="020B0604020202020204" pitchFamily="34" charset="0"/>
              <a:buChar char="•"/>
            </a:pPr>
            <a:r>
              <a:rPr lang="en-US" b="1" dirty="0"/>
              <a:t>Adaptive Systems</a:t>
            </a:r>
            <a:r>
              <a:rPr lang="en-US" dirty="0"/>
              <a:t>: Make the system adaptable to different track layouts, speeds, and gate types.</a:t>
            </a:r>
          </a:p>
          <a:p>
            <a:endParaRPr lang="en-IN" dirty="0"/>
          </a:p>
        </p:txBody>
      </p:sp>
    </p:spTree>
    <p:extLst>
      <p:ext uri="{BB962C8B-B14F-4D97-AF65-F5344CB8AC3E}">
        <p14:creationId xmlns:p14="http://schemas.microsoft.com/office/powerpoint/2010/main" val="18723935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TM78884036_DIGITAL ION DESIGN_SL_V1.pptx" id="{AD58A1CE-E9E9-4C2E-83A0-65FD4522F93A}" vid="{1E9553B9-AA04-4A15-9836-1E06682578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CC30393A-FEC6-4A44-9E4A-6EA49F1F7D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D16958A-754B-4396-9457-FD7A427A37DD}">
  <ds:schemaRefs>
    <ds:schemaRef ds:uri="http://schemas.microsoft.com/sharepoint/v3/contenttype/forms"/>
  </ds:schemaRefs>
</ds:datastoreItem>
</file>

<file path=customXml/itemProps3.xml><?xml version="1.0" encoding="utf-8"?>
<ds:datastoreItem xmlns:ds="http://schemas.openxmlformats.org/officeDocument/2006/customXml" ds:itemID="{048C88F1-1664-415F-AFCE-F6CF45809817}">
  <ds:schemaRefs>
    <ds:schemaRef ds:uri="http://schemas.microsoft.com/office/2006/documentManagement/types"/>
    <ds:schemaRef ds:uri="http://schemas.openxmlformats.org/package/2006/metadata/core-properties"/>
    <ds:schemaRef ds:uri="http://purl.org/dc/terms/"/>
    <ds:schemaRef ds:uri="http://www.w3.org/XML/1998/namespace"/>
    <ds:schemaRef ds:uri="71af3243-3dd4-4a8d-8c0d-dd76da1f02a5"/>
    <ds:schemaRef ds:uri="http://schemas.microsoft.com/office/2006/metadata/properties"/>
    <ds:schemaRef ds:uri="16c05727-aa75-4e4a-9b5f-8a80a1165891"/>
    <ds:schemaRef ds:uri="http://schemas.microsoft.com/office/infopath/2007/PartnerControl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Digital design</Template>
  <TotalTime>83</TotalTime>
  <Words>1499</Words>
  <Application>Microsoft Office PowerPoint</Application>
  <PresentationFormat>Widescreen</PresentationFormat>
  <Paragraphs>104</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Century Gothic</vt:lpstr>
      <vt:lpstr>Consolas</vt:lpstr>
      <vt:lpstr>Wingdings 3</vt:lpstr>
      <vt:lpstr>Ion</vt:lpstr>
      <vt:lpstr>AUTOMATIC RAILWAY GATE CONTROL</vt:lpstr>
      <vt:lpstr>TABLE OF 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Narender Pattir</dc:creator>
  <cp:lastModifiedBy>Narender Pattir</cp:lastModifiedBy>
  <cp:revision>4</cp:revision>
  <dcterms:created xsi:type="dcterms:W3CDTF">2024-11-23T15:29:12Z</dcterms:created>
  <dcterms:modified xsi:type="dcterms:W3CDTF">2024-11-29T04:57:36Z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